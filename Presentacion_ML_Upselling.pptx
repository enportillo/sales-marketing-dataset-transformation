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c:style val="2"/>
  <c:chart>
    <c:title>
      <c:tx>
        <c:rich>
          <a:bodyPr/>
          <a:lstStyle/>
          <a:p>
            <a:pPr>
              <a:defRPr sz="1800" b="0" i="0" u="none" strike="noStrike">
                <a:solidFill>
                  <a:srgbClr val="000000"/>
                </a:solidFill>
                <a:latin typeface="Arial"/>
              </a:defRPr>
            </a:pPr>
            <a:r>
              <a:rPr lang="es-CL" sz="1800" b="0" i="0" u="none" strike="noStrike">
                <a:solidFill>
                  <a:srgbClr val="000000"/>
                </a:solidFill>
                <a:latin typeface="Arial"/>
              </a:rPr>
              <a:t>Curva ROC (aproximación visual)</a:t>
            </a:r>
          </a:p>
        </c:rich>
      </c:tx>
      <c:overlay val="0"/>
    </c:title>
    <c:autoTitleDeleted val="0"/>
    <c:plotArea>
      <c:layout/>
      <c:lineChart>
        <c:grouping val="standard"/>
        <c:varyColors val="0"/>
        <c:ser>
          <c:idx val="0"/>
          <c:order val="0"/>
          <c:tx>
            <c:strRef>
              <c:f>Sheet1!$B$1</c:f>
              <c:strCache>
                <c:ptCount val="1"/>
                <c:pt idx="0">
                  <c:v>Random Forest</c:v>
                </c:pt>
              </c:strCache>
            </c:strRef>
          </c:tx>
          <c:spPr>
            <a:ln w="31750" cap="flat">
              <a:solidFill>
                <a:srgbClr val="1A4731"/>
              </a:solidFill>
              <a:prstDash val="solid"/>
              <a:round/>
            </a:ln>
            <a:effectLst/>
          </c:spPr>
          <c:marker>
            <c:symbol val="circle"/>
            <c:size val="6"/>
            <c:spPr>
              <a:solidFill>
                <a:srgbClr val="1A4731"/>
              </a:solidFill>
              <a:ln w="9525" cap="flat">
                <a:solidFill>
                  <a:srgbClr val="1A4731"/>
                </a:solidFill>
                <a:prstDash val="solid"/>
                <a:round/>
              </a:ln>
              <a:effectLst/>
            </c:spPr>
          </c:marker>
          <c:cat>
            <c:strRef>
              <c:f>Sheet1!$A$2:$A$8</c:f>
              <c:strCache>
                <c:ptCount val="7"/>
                <c:pt idx="0">
                  <c:v>0</c:v>
                </c:pt>
                <c:pt idx="1">
                  <c:v>0.1</c:v>
                </c:pt>
                <c:pt idx="2">
                  <c:v>0.3</c:v>
                </c:pt>
                <c:pt idx="3">
                  <c:v>0.5</c:v>
                </c:pt>
                <c:pt idx="4">
                  <c:v>0.7</c:v>
                </c:pt>
                <c:pt idx="5">
                  <c:v>0.9</c:v>
                </c:pt>
                <c:pt idx="6">
                  <c:v>1.0</c:v>
                </c:pt>
              </c:strCache>
            </c:strRef>
          </c:cat>
          <c:val>
            <c:numRef>
              <c:f>Sheet1!$B$2:$B$8</c:f>
              <c:numCache>
                <c:formatCode>General</c:formatCode>
                <c:ptCount val="7"/>
                <c:pt idx="0">
                  <c:v>0</c:v>
                </c:pt>
                <c:pt idx="1">
                  <c:v>0.18</c:v>
                </c:pt>
                <c:pt idx="2">
                  <c:v>0.42</c:v>
                </c:pt>
                <c:pt idx="3">
                  <c:v>0.62</c:v>
                </c:pt>
                <c:pt idx="4">
                  <c:v>0.8</c:v>
                </c:pt>
                <c:pt idx="5">
                  <c:v>0.94</c:v>
                </c:pt>
                <c:pt idx="6">
                  <c:v>1</c:v>
                </c:pt>
              </c:numCache>
            </c:numRef>
          </c:val>
          <c:smooth val="0"/>
          <c:extLst>
            <c:ext xmlns:c16="http://schemas.microsoft.com/office/drawing/2014/chart" uri="{C3380CC4-5D6E-409C-BE32-E72D297353CC}">
              <c16:uniqueId val="{00000000-5EAC-4022-8E55-027993743E04}"/>
            </c:ext>
          </c:extLst>
        </c:ser>
        <c:ser>
          <c:idx val="1"/>
          <c:order val="1"/>
          <c:tx>
            <c:strRef>
              <c:f>Sheet1!$C$1</c:f>
              <c:strCache>
                <c:ptCount val="1"/>
                <c:pt idx="0">
                  <c:v>Regresión Logística</c:v>
                </c:pt>
              </c:strCache>
            </c:strRef>
          </c:tx>
          <c:spPr>
            <a:ln w="31750" cap="flat">
              <a:solidFill>
                <a:srgbClr val="AAAAAA"/>
              </a:solidFill>
              <a:prstDash val="solid"/>
              <a:round/>
            </a:ln>
            <a:effectLst/>
          </c:spPr>
          <c:marker>
            <c:symbol val="circle"/>
            <c:size val="6"/>
            <c:spPr>
              <a:solidFill>
                <a:srgbClr val="AAAAAA"/>
              </a:solidFill>
              <a:ln w="9525" cap="flat">
                <a:solidFill>
                  <a:srgbClr val="AAAAAA"/>
                </a:solidFill>
                <a:prstDash val="solid"/>
                <a:round/>
              </a:ln>
              <a:effectLst/>
            </c:spPr>
          </c:marker>
          <c:cat>
            <c:strRef>
              <c:f>Sheet1!$A$2:$A$8</c:f>
              <c:strCache>
                <c:ptCount val="7"/>
                <c:pt idx="0">
                  <c:v>0</c:v>
                </c:pt>
                <c:pt idx="1">
                  <c:v>0.1</c:v>
                </c:pt>
                <c:pt idx="2">
                  <c:v>0.3</c:v>
                </c:pt>
                <c:pt idx="3">
                  <c:v>0.5</c:v>
                </c:pt>
                <c:pt idx="4">
                  <c:v>0.7</c:v>
                </c:pt>
                <c:pt idx="5">
                  <c:v>0.9</c:v>
                </c:pt>
                <c:pt idx="6">
                  <c:v>1.0</c:v>
                </c:pt>
              </c:strCache>
            </c:strRef>
          </c:cat>
          <c:val>
            <c:numRef>
              <c:f>Sheet1!$C$2:$C$8</c:f>
              <c:numCache>
                <c:formatCode>General</c:formatCode>
                <c:ptCount val="7"/>
                <c:pt idx="0">
                  <c:v>0</c:v>
                </c:pt>
                <c:pt idx="1">
                  <c:v>0.1</c:v>
                </c:pt>
                <c:pt idx="2">
                  <c:v>0.3</c:v>
                </c:pt>
                <c:pt idx="3">
                  <c:v>0.5</c:v>
                </c:pt>
                <c:pt idx="4">
                  <c:v>0.7</c:v>
                </c:pt>
                <c:pt idx="5">
                  <c:v>0.9</c:v>
                </c:pt>
                <c:pt idx="6">
                  <c:v>1</c:v>
                </c:pt>
              </c:numCache>
            </c:numRef>
          </c:val>
          <c:smooth val="0"/>
          <c:extLst>
            <c:ext xmlns:c16="http://schemas.microsoft.com/office/drawing/2014/chart" uri="{C3380CC4-5D6E-409C-BE32-E72D297353CC}">
              <c16:uniqueId val="{00000001-5EAC-4022-8E55-027993743E04}"/>
            </c:ext>
          </c:extLst>
        </c:ser>
        <c:ser>
          <c:idx val="2"/>
          <c:order val="2"/>
          <c:tx>
            <c:strRef>
              <c:f>Sheet1!$D$1</c:f>
              <c:strCache>
                <c:ptCount val="1"/>
                <c:pt idx="0">
                  <c:v>Azar (ref.)</c:v>
                </c:pt>
              </c:strCache>
            </c:strRef>
          </c:tx>
          <c:spPr>
            <a:ln w="31750" cap="flat">
              <a:solidFill>
                <a:srgbClr val="DDDDDD"/>
              </a:solidFill>
              <a:prstDash val="solid"/>
              <a:round/>
            </a:ln>
            <a:effectLst/>
          </c:spPr>
          <c:marker>
            <c:symbol val="circle"/>
            <c:size val="6"/>
            <c:spPr>
              <a:solidFill>
                <a:srgbClr val="DDDDDD"/>
              </a:solidFill>
              <a:ln w="9525" cap="flat">
                <a:solidFill>
                  <a:srgbClr val="DDDDDD"/>
                </a:solidFill>
                <a:prstDash val="solid"/>
                <a:round/>
              </a:ln>
              <a:effectLst/>
            </c:spPr>
          </c:marker>
          <c:cat>
            <c:strRef>
              <c:f>Sheet1!$A$2:$A$8</c:f>
              <c:strCache>
                <c:ptCount val="7"/>
                <c:pt idx="0">
                  <c:v>0</c:v>
                </c:pt>
                <c:pt idx="1">
                  <c:v>0.1</c:v>
                </c:pt>
                <c:pt idx="2">
                  <c:v>0.3</c:v>
                </c:pt>
                <c:pt idx="3">
                  <c:v>0.5</c:v>
                </c:pt>
                <c:pt idx="4">
                  <c:v>0.7</c:v>
                </c:pt>
                <c:pt idx="5">
                  <c:v>0.9</c:v>
                </c:pt>
                <c:pt idx="6">
                  <c:v>1.0</c:v>
                </c:pt>
              </c:strCache>
            </c:strRef>
          </c:cat>
          <c:val>
            <c:numRef>
              <c:f>Sheet1!$D$2:$D$8</c:f>
              <c:numCache>
                <c:formatCode>General</c:formatCode>
                <c:ptCount val="7"/>
                <c:pt idx="0">
                  <c:v>0</c:v>
                </c:pt>
                <c:pt idx="1">
                  <c:v>0.1</c:v>
                </c:pt>
                <c:pt idx="2">
                  <c:v>0.3</c:v>
                </c:pt>
                <c:pt idx="3">
                  <c:v>0.5</c:v>
                </c:pt>
                <c:pt idx="4">
                  <c:v>0.7</c:v>
                </c:pt>
                <c:pt idx="5">
                  <c:v>0.9</c:v>
                </c:pt>
                <c:pt idx="6">
                  <c:v>1</c:v>
                </c:pt>
              </c:numCache>
            </c:numRef>
          </c:val>
          <c:smooth val="0"/>
          <c:extLst>
            <c:ext xmlns:c16="http://schemas.microsoft.com/office/drawing/2014/chart" uri="{C3380CC4-5D6E-409C-BE32-E72D297353CC}">
              <c16:uniqueId val="{00000002-5EAC-4022-8E55-027993743E0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4F6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700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472C4"/>
          </a:solidFill>
          <a:ln/>
        </p:spPr>
        <p:txBody>
          <a:bodyPr/>
          <a:lstStyle/>
          <a:p>
            <a:endParaRPr lang="es-CL"/>
          </a:p>
        </p:txBody>
      </p:sp>
      <p:sp>
        <p:nvSpPr>
          <p:cNvPr id="3" name="Text 1"/>
          <p:cNvSpPr/>
          <p:nvPr/>
        </p:nvSpPr>
        <p:spPr>
          <a:xfrm>
            <a:off x="457200" y="822960"/>
            <a:ext cx="8229600" cy="594360"/>
          </a:xfrm>
          <a:prstGeom prst="rect">
            <a:avLst/>
          </a:prstGeom>
          <a:noFill/>
          <a:ln/>
        </p:spPr>
        <p:txBody>
          <a:bodyPr wrap="square" rtlCol="0" anchor="ctr"/>
          <a:lstStyle/>
          <a:p>
            <a:pPr marL="0" indent="0">
              <a:buNone/>
            </a:pPr>
            <a:r>
              <a:rPr lang="en-US" sz="2400" dirty="0">
                <a:solidFill>
                  <a:srgbClr val="CADCFC"/>
                </a:solidFill>
              </a:rPr>
              <a:t>Optimización de Modelos de</a:t>
            </a:r>
            <a:endParaRPr lang="en-US" sz="2400" dirty="0"/>
          </a:p>
        </p:txBody>
      </p:sp>
      <p:sp>
        <p:nvSpPr>
          <p:cNvPr id="4" name="Text 2"/>
          <p:cNvSpPr/>
          <p:nvPr/>
        </p:nvSpPr>
        <p:spPr>
          <a:xfrm>
            <a:off x="457200" y="1371600"/>
            <a:ext cx="8229600" cy="731520"/>
          </a:xfrm>
          <a:prstGeom prst="rect">
            <a:avLst/>
          </a:prstGeom>
          <a:noFill/>
          <a:ln/>
        </p:spPr>
        <p:txBody>
          <a:bodyPr wrap="square" rtlCol="0" anchor="ctr"/>
          <a:lstStyle/>
          <a:p>
            <a:pPr marL="0" indent="0">
              <a:buNone/>
            </a:pPr>
            <a:r>
              <a:rPr lang="en-US" sz="3000" b="1" dirty="0">
                <a:solidFill>
                  <a:srgbClr val="FFFFFF"/>
                </a:solidFill>
              </a:rPr>
              <a:t>Machine Learning</a:t>
            </a:r>
            <a:endParaRPr lang="en-US" sz="3000" dirty="0"/>
          </a:p>
        </p:txBody>
      </p:sp>
      <p:sp>
        <p:nvSpPr>
          <p:cNvPr id="5" name="Text 3"/>
          <p:cNvSpPr/>
          <p:nvPr/>
        </p:nvSpPr>
        <p:spPr>
          <a:xfrm>
            <a:off x="457200" y="2240280"/>
            <a:ext cx="8229600" cy="320040"/>
          </a:xfrm>
          <a:prstGeom prst="rect">
            <a:avLst/>
          </a:prstGeom>
          <a:noFill/>
          <a:ln/>
        </p:spPr>
        <p:txBody>
          <a:bodyPr wrap="square" rtlCol="0" anchor="ctr"/>
          <a:lstStyle/>
          <a:p>
            <a:pPr marL="0" indent="0">
              <a:buNone/>
            </a:pPr>
            <a:r>
              <a:rPr lang="en-US" sz="1300" dirty="0">
                <a:solidFill>
                  <a:srgbClr val="CADCFC"/>
                </a:solidFill>
              </a:rPr>
              <a:t>Programación para la Ciencia de Datos — SCY1101 · Duoc UC</a:t>
            </a:r>
            <a:endParaRPr lang="en-US" sz="1300" dirty="0"/>
          </a:p>
        </p:txBody>
      </p:sp>
      <p:sp>
        <p:nvSpPr>
          <p:cNvPr id="6" name="Shape 4"/>
          <p:cNvSpPr/>
          <p:nvPr/>
        </p:nvSpPr>
        <p:spPr>
          <a:xfrm>
            <a:off x="457200" y="2697480"/>
            <a:ext cx="8229600" cy="22860"/>
          </a:xfrm>
          <a:prstGeom prst="rect">
            <a:avLst/>
          </a:prstGeom>
          <a:solidFill>
            <a:srgbClr val="4472C4"/>
          </a:solidFill>
          <a:ln/>
        </p:spPr>
        <p:txBody>
          <a:bodyPr/>
          <a:lstStyle/>
          <a:p>
            <a:endParaRPr lang="es-CL"/>
          </a:p>
        </p:txBody>
      </p:sp>
      <p:sp>
        <p:nvSpPr>
          <p:cNvPr id="7" name="Shape 5"/>
          <p:cNvSpPr/>
          <p:nvPr/>
        </p:nvSpPr>
        <p:spPr>
          <a:xfrm>
            <a:off x="457200" y="2880360"/>
            <a:ext cx="2743200" cy="1645920"/>
          </a:xfrm>
          <a:prstGeom prst="rect">
            <a:avLst/>
          </a:prstGeom>
          <a:solidFill>
            <a:srgbClr val="4472C4">
              <a:alpha val="25000"/>
            </a:srgbClr>
          </a:solidFill>
          <a:ln/>
        </p:spPr>
        <p:txBody>
          <a:bodyPr/>
          <a:lstStyle/>
          <a:p>
            <a:endParaRPr lang="es-CL"/>
          </a:p>
        </p:txBody>
      </p:sp>
      <p:sp>
        <p:nvSpPr>
          <p:cNvPr id="8" name="Shape 6"/>
          <p:cNvSpPr/>
          <p:nvPr/>
        </p:nvSpPr>
        <p:spPr>
          <a:xfrm>
            <a:off x="457200" y="2880360"/>
            <a:ext cx="2743200" cy="54864"/>
          </a:xfrm>
          <a:prstGeom prst="rect">
            <a:avLst/>
          </a:prstGeom>
          <a:solidFill>
            <a:srgbClr val="4472C4"/>
          </a:solidFill>
          <a:ln/>
        </p:spPr>
        <p:txBody>
          <a:bodyPr/>
          <a:lstStyle/>
          <a:p>
            <a:endParaRPr lang="es-CL"/>
          </a:p>
        </p:txBody>
      </p:sp>
      <p:sp>
        <p:nvSpPr>
          <p:cNvPr id="9" name="Text 7"/>
          <p:cNvSpPr/>
          <p:nvPr/>
        </p:nvSpPr>
        <p:spPr>
          <a:xfrm>
            <a:off x="566928" y="2971800"/>
            <a:ext cx="2523744" cy="411480"/>
          </a:xfrm>
          <a:prstGeom prst="rect">
            <a:avLst/>
          </a:prstGeom>
          <a:noFill/>
          <a:ln/>
        </p:spPr>
        <p:txBody>
          <a:bodyPr wrap="square" lIns="0" tIns="0" rIns="0" bIns="0" rtlCol="0" anchor="ctr"/>
          <a:lstStyle/>
          <a:p>
            <a:pPr marL="0" indent="0">
              <a:buNone/>
            </a:pPr>
            <a:r>
              <a:rPr lang="en-US" sz="1400" b="1" dirty="0">
                <a:solidFill>
                  <a:srgbClr val="FFFFFF"/>
                </a:solidFill>
              </a:rPr>
              <a:t>Dayana Vega</a:t>
            </a:r>
            <a:endParaRPr lang="en-US" sz="1400" dirty="0"/>
          </a:p>
        </p:txBody>
      </p:sp>
      <p:sp>
        <p:nvSpPr>
          <p:cNvPr id="10" name="Text 8"/>
          <p:cNvSpPr/>
          <p:nvPr/>
        </p:nvSpPr>
        <p:spPr>
          <a:xfrm>
            <a:off x="566928" y="3401568"/>
            <a:ext cx="2523744" cy="320040"/>
          </a:xfrm>
          <a:prstGeom prst="rect">
            <a:avLst/>
          </a:prstGeom>
          <a:noFill/>
          <a:ln/>
        </p:spPr>
        <p:txBody>
          <a:bodyPr wrap="square" lIns="0" tIns="0" rIns="0" bIns="0" rtlCol="0" anchor="ctr"/>
          <a:lstStyle/>
          <a:p>
            <a:pPr marL="0" indent="0">
              <a:buNone/>
            </a:pPr>
            <a:r>
              <a:rPr lang="en-US" sz="1100" dirty="0">
                <a:solidFill>
                  <a:srgbClr val="CADCFC"/>
                </a:solidFill>
              </a:rPr>
              <a:t>Modelado Supervisado</a:t>
            </a:r>
            <a:endParaRPr lang="en-US" sz="1100" dirty="0"/>
          </a:p>
        </p:txBody>
      </p:sp>
      <p:sp>
        <p:nvSpPr>
          <p:cNvPr id="12" name="Shape 10"/>
          <p:cNvSpPr/>
          <p:nvPr/>
        </p:nvSpPr>
        <p:spPr>
          <a:xfrm>
            <a:off x="3355848" y="2880360"/>
            <a:ext cx="2743200" cy="1645920"/>
          </a:xfrm>
          <a:prstGeom prst="rect">
            <a:avLst/>
          </a:prstGeom>
          <a:solidFill>
            <a:srgbClr val="2E7D52">
              <a:alpha val="25000"/>
            </a:srgbClr>
          </a:solidFill>
          <a:ln/>
        </p:spPr>
        <p:txBody>
          <a:bodyPr/>
          <a:lstStyle/>
          <a:p>
            <a:endParaRPr lang="es-CL"/>
          </a:p>
        </p:txBody>
      </p:sp>
      <p:sp>
        <p:nvSpPr>
          <p:cNvPr id="13" name="Shape 11"/>
          <p:cNvSpPr/>
          <p:nvPr/>
        </p:nvSpPr>
        <p:spPr>
          <a:xfrm>
            <a:off x="3355848" y="2880360"/>
            <a:ext cx="2743200" cy="54864"/>
          </a:xfrm>
          <a:prstGeom prst="rect">
            <a:avLst/>
          </a:prstGeom>
          <a:solidFill>
            <a:srgbClr val="2E7D52"/>
          </a:solidFill>
          <a:ln/>
        </p:spPr>
        <p:txBody>
          <a:bodyPr/>
          <a:lstStyle/>
          <a:p>
            <a:endParaRPr lang="es-CL"/>
          </a:p>
        </p:txBody>
      </p:sp>
      <p:sp>
        <p:nvSpPr>
          <p:cNvPr id="14" name="Text 12"/>
          <p:cNvSpPr/>
          <p:nvPr/>
        </p:nvSpPr>
        <p:spPr>
          <a:xfrm>
            <a:off x="3465576" y="2971800"/>
            <a:ext cx="2523744" cy="411480"/>
          </a:xfrm>
          <a:prstGeom prst="rect">
            <a:avLst/>
          </a:prstGeom>
          <a:noFill/>
          <a:ln/>
        </p:spPr>
        <p:txBody>
          <a:bodyPr wrap="square" lIns="0" tIns="0" rIns="0" bIns="0" rtlCol="0" anchor="ctr"/>
          <a:lstStyle/>
          <a:p>
            <a:pPr marL="0" indent="0">
              <a:buNone/>
            </a:pPr>
            <a:r>
              <a:rPr lang="en-US" sz="1400" b="1" dirty="0">
                <a:solidFill>
                  <a:srgbClr val="FFFFFF"/>
                </a:solidFill>
              </a:rPr>
              <a:t>Stanley Joseph</a:t>
            </a:r>
            <a:endParaRPr lang="en-US" sz="1400" dirty="0"/>
          </a:p>
        </p:txBody>
      </p:sp>
      <p:sp>
        <p:nvSpPr>
          <p:cNvPr id="15" name="Text 13"/>
          <p:cNvSpPr/>
          <p:nvPr/>
        </p:nvSpPr>
        <p:spPr>
          <a:xfrm>
            <a:off x="3465576" y="3401568"/>
            <a:ext cx="2523744" cy="320040"/>
          </a:xfrm>
          <a:prstGeom prst="rect">
            <a:avLst/>
          </a:prstGeom>
          <a:noFill/>
          <a:ln/>
        </p:spPr>
        <p:txBody>
          <a:bodyPr wrap="square" lIns="0" tIns="0" rIns="0" bIns="0" rtlCol="0" anchor="ctr"/>
          <a:lstStyle/>
          <a:p>
            <a:pPr marL="0" indent="0">
              <a:buNone/>
            </a:pPr>
            <a:r>
              <a:rPr lang="en-US" sz="1100" dirty="0">
                <a:solidFill>
                  <a:srgbClr val="CADCFC"/>
                </a:solidFill>
              </a:rPr>
              <a:t>Evaluación de Modelos</a:t>
            </a:r>
            <a:endParaRPr lang="en-US" sz="1100" dirty="0"/>
          </a:p>
        </p:txBody>
      </p:sp>
      <p:sp>
        <p:nvSpPr>
          <p:cNvPr id="18" name="Shape 16"/>
          <p:cNvSpPr/>
          <p:nvPr/>
        </p:nvSpPr>
        <p:spPr>
          <a:xfrm>
            <a:off x="6254496" y="2880360"/>
            <a:ext cx="2743200" cy="54864"/>
          </a:xfrm>
          <a:prstGeom prst="rect">
            <a:avLst/>
          </a:prstGeom>
          <a:solidFill>
            <a:srgbClr val="C0392B"/>
          </a:solidFill>
          <a:ln/>
        </p:spPr>
        <p:txBody>
          <a:bodyPr/>
          <a:lstStyle/>
          <a:p>
            <a:endParaRPr lang="es-CL"/>
          </a:p>
        </p:txBody>
      </p:sp>
      <p:sp>
        <p:nvSpPr>
          <p:cNvPr id="19" name="Text 17"/>
          <p:cNvSpPr/>
          <p:nvPr/>
        </p:nvSpPr>
        <p:spPr>
          <a:xfrm>
            <a:off x="6364224" y="2971800"/>
            <a:ext cx="2523744" cy="411480"/>
          </a:xfrm>
          <a:prstGeom prst="rect">
            <a:avLst/>
          </a:prstGeom>
          <a:noFill/>
          <a:ln/>
        </p:spPr>
        <p:txBody>
          <a:bodyPr wrap="square" lIns="0" tIns="0" rIns="0" bIns="0" rtlCol="0" anchor="ctr"/>
          <a:lstStyle/>
          <a:p>
            <a:pPr marL="0" indent="0">
              <a:buNone/>
            </a:pPr>
            <a:r>
              <a:rPr lang="en-US" sz="1400" b="1" dirty="0">
                <a:solidFill>
                  <a:srgbClr val="FFFFFF"/>
                </a:solidFill>
              </a:rPr>
              <a:t>Encar Portillo</a:t>
            </a:r>
            <a:endParaRPr lang="en-US" sz="1400" dirty="0"/>
          </a:p>
        </p:txBody>
      </p:sp>
      <p:sp>
        <p:nvSpPr>
          <p:cNvPr id="20" name="Text 18"/>
          <p:cNvSpPr/>
          <p:nvPr/>
        </p:nvSpPr>
        <p:spPr>
          <a:xfrm>
            <a:off x="6364224" y="3401568"/>
            <a:ext cx="2523744" cy="320040"/>
          </a:xfrm>
          <a:prstGeom prst="rect">
            <a:avLst/>
          </a:prstGeom>
          <a:noFill/>
          <a:ln/>
        </p:spPr>
        <p:txBody>
          <a:bodyPr wrap="square" lIns="0" tIns="0" rIns="0" bIns="0" rtlCol="0" anchor="ctr"/>
          <a:lstStyle/>
          <a:p>
            <a:pPr marL="0" indent="0">
              <a:buNone/>
            </a:pPr>
            <a:r>
              <a:rPr lang="en-US" sz="1100" dirty="0">
                <a:solidFill>
                  <a:srgbClr val="CADCFC"/>
                </a:solidFill>
              </a:rPr>
              <a:t>Optimización de HPs</a:t>
            </a:r>
            <a:endParaRPr lang="en-US" sz="1100" dirty="0"/>
          </a:p>
        </p:txBody>
      </p:sp>
      <p:sp>
        <p:nvSpPr>
          <p:cNvPr id="23" name="Shape 15">
            <a:extLst>
              <a:ext uri="{FF2B5EF4-FFF2-40B4-BE49-F238E27FC236}">
                <a16:creationId xmlns:a16="http://schemas.microsoft.com/office/drawing/2014/main" id="{EB382E4B-8526-D90B-43AE-57C588BF0B19}"/>
              </a:ext>
            </a:extLst>
          </p:cNvPr>
          <p:cNvSpPr/>
          <p:nvPr/>
        </p:nvSpPr>
        <p:spPr>
          <a:xfrm>
            <a:off x="6254496" y="2880360"/>
            <a:ext cx="2743200" cy="1645920"/>
          </a:xfrm>
          <a:prstGeom prst="rect">
            <a:avLst/>
          </a:prstGeom>
          <a:solidFill>
            <a:srgbClr val="C0392B">
              <a:alpha val="25000"/>
            </a:srgbClr>
          </a:solidFill>
          <a:ln/>
        </p:spPr>
        <p:txBody>
          <a:bodyPr/>
          <a:lstStyle/>
          <a:p>
            <a:endParaRPr lang="es-CL"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E2761"/>
          </a:solidFill>
          <a:ln/>
        </p:spPr>
        <p:txBody>
          <a:bodyPr/>
          <a:lstStyle/>
          <a:p>
            <a:endParaRPr lang="es-CL"/>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200" b="1" dirty="0">
                <a:solidFill>
                  <a:srgbClr val="FFFFFF"/>
                </a:solidFill>
              </a:rPr>
              <a:t>PARTE 1 · Dayana Vega  ·  Notebook 4: Modelado Supervisado</a:t>
            </a:r>
            <a:endParaRPr lang="en-US" sz="12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marL="0" indent="0">
              <a:buNone/>
            </a:pPr>
            <a:r>
              <a:rPr lang="en-US" sz="2600" b="1" dirty="0">
                <a:solidFill>
                  <a:srgbClr val="1A1A2E"/>
                </a:solidFill>
              </a:rPr>
              <a:t>Dataset y Segmentación de Clientes (K-Means)</a:t>
            </a:r>
            <a:endParaRPr lang="en-US" sz="2600" dirty="0"/>
          </a:p>
        </p:txBody>
      </p:sp>
      <p:sp>
        <p:nvSpPr>
          <p:cNvPr id="5" name="Shape 3"/>
          <p:cNvSpPr/>
          <p:nvPr/>
        </p:nvSpPr>
        <p:spPr>
          <a:xfrm>
            <a:off x="365760" y="1170432"/>
            <a:ext cx="8412480" cy="27432"/>
          </a:xfrm>
          <a:prstGeom prst="rect">
            <a:avLst/>
          </a:prstGeom>
          <a:solidFill>
            <a:srgbClr val="CADCFC"/>
          </a:solidFill>
          <a:ln/>
        </p:spPr>
        <p:txBody>
          <a:bodyPr/>
          <a:lstStyle/>
          <a:p>
            <a:endParaRPr lang="es-CL"/>
          </a:p>
        </p:txBody>
      </p:sp>
      <p:sp>
        <p:nvSpPr>
          <p:cNvPr id="6" name="Text 4"/>
          <p:cNvSpPr/>
          <p:nvPr/>
        </p:nvSpPr>
        <p:spPr>
          <a:xfrm>
            <a:off x="365760" y="1261872"/>
            <a:ext cx="4023360" cy="292608"/>
          </a:xfrm>
          <a:prstGeom prst="rect">
            <a:avLst/>
          </a:prstGeom>
          <a:noFill/>
          <a:ln/>
        </p:spPr>
        <p:txBody>
          <a:bodyPr wrap="square" rtlCol="0" anchor="ctr"/>
          <a:lstStyle/>
          <a:p>
            <a:pPr marL="0" indent="0">
              <a:buNone/>
            </a:pPr>
            <a:r>
              <a:rPr lang="en-US" sz="1400" b="1" dirty="0">
                <a:solidFill>
                  <a:srgbClr val="1E2761"/>
                </a:solidFill>
              </a:rPr>
              <a:t>El Dataset</a:t>
            </a:r>
            <a:endParaRPr lang="en-US" sz="1400" dirty="0"/>
          </a:p>
        </p:txBody>
      </p:sp>
      <p:sp>
        <p:nvSpPr>
          <p:cNvPr id="7" name="Shape 5"/>
          <p:cNvSpPr/>
          <p:nvPr/>
        </p:nvSpPr>
        <p:spPr>
          <a:xfrm>
            <a:off x="365760" y="1627632"/>
            <a:ext cx="1828800" cy="822960"/>
          </a:xfrm>
          <a:prstGeom prst="rect">
            <a:avLst/>
          </a:prstGeom>
          <a:solidFill>
            <a:srgbClr val="1E2761"/>
          </a:solidFill>
          <a:ln/>
          <a:effectLst>
            <a:outerShdw blurRad="76200" dist="25400" dir="8100000" algn="bl" rotWithShape="0">
              <a:srgbClr val="000000">
                <a:alpha val="12000"/>
              </a:srgbClr>
            </a:outerShdw>
          </a:effectLst>
        </p:spPr>
        <p:txBody>
          <a:bodyPr/>
          <a:lstStyle/>
          <a:p>
            <a:endParaRPr lang="es-CL"/>
          </a:p>
        </p:txBody>
      </p:sp>
      <p:sp>
        <p:nvSpPr>
          <p:cNvPr id="8" name="Text 6"/>
          <p:cNvSpPr/>
          <p:nvPr/>
        </p:nvSpPr>
        <p:spPr>
          <a:xfrm>
            <a:off x="365760" y="1700784"/>
            <a:ext cx="1828800" cy="452628"/>
          </a:xfrm>
          <a:prstGeom prst="rect">
            <a:avLst/>
          </a:prstGeom>
          <a:noFill/>
          <a:ln/>
        </p:spPr>
        <p:txBody>
          <a:bodyPr wrap="square" lIns="0" tIns="0" rIns="0" bIns="0" rtlCol="0" anchor="b"/>
          <a:lstStyle/>
          <a:p>
            <a:pPr marL="0" indent="0" algn="ctr">
              <a:buNone/>
            </a:pPr>
            <a:r>
              <a:rPr lang="en-US" sz="2800" b="1" dirty="0">
                <a:solidFill>
                  <a:srgbClr val="FFFFFF"/>
                </a:solidFill>
              </a:rPr>
              <a:t>15.750</a:t>
            </a:r>
            <a:endParaRPr lang="en-US" sz="2800" dirty="0"/>
          </a:p>
        </p:txBody>
      </p:sp>
      <p:sp>
        <p:nvSpPr>
          <p:cNvPr id="9" name="Text 7"/>
          <p:cNvSpPr/>
          <p:nvPr/>
        </p:nvSpPr>
        <p:spPr>
          <a:xfrm>
            <a:off x="365760" y="2104949"/>
            <a:ext cx="1828800" cy="312725"/>
          </a:xfrm>
          <a:prstGeom prst="rect">
            <a:avLst/>
          </a:prstGeom>
          <a:noFill/>
          <a:ln/>
        </p:spPr>
        <p:txBody>
          <a:bodyPr wrap="square" lIns="0" tIns="0" rIns="0" bIns="0" rtlCol="0" anchor="t"/>
          <a:lstStyle/>
          <a:p>
            <a:pPr marL="0" indent="0" algn="ctr">
              <a:buNone/>
            </a:pPr>
            <a:r>
              <a:rPr lang="en-US" sz="1100" dirty="0">
                <a:solidFill>
                  <a:srgbClr val="FFFFFF"/>
                </a:solidFill>
              </a:rPr>
              <a:t>registros de clientes</a:t>
            </a:r>
            <a:endParaRPr lang="en-US" sz="1100" dirty="0"/>
          </a:p>
        </p:txBody>
      </p:sp>
      <p:sp>
        <p:nvSpPr>
          <p:cNvPr id="10" name="Shape 8"/>
          <p:cNvSpPr/>
          <p:nvPr/>
        </p:nvSpPr>
        <p:spPr>
          <a:xfrm>
            <a:off x="2331720" y="1627632"/>
            <a:ext cx="1828800" cy="822960"/>
          </a:xfrm>
          <a:prstGeom prst="rect">
            <a:avLst/>
          </a:prstGeom>
          <a:solidFill>
            <a:srgbClr val="4472C4"/>
          </a:solidFill>
          <a:ln/>
          <a:effectLst>
            <a:outerShdw blurRad="76200" dist="25400" dir="8100000" algn="bl" rotWithShape="0">
              <a:srgbClr val="000000">
                <a:alpha val="12000"/>
              </a:srgbClr>
            </a:outerShdw>
          </a:effectLst>
        </p:spPr>
        <p:txBody>
          <a:bodyPr/>
          <a:lstStyle/>
          <a:p>
            <a:endParaRPr lang="es-CL"/>
          </a:p>
        </p:txBody>
      </p:sp>
      <p:sp>
        <p:nvSpPr>
          <p:cNvPr id="11" name="Text 9"/>
          <p:cNvSpPr/>
          <p:nvPr/>
        </p:nvSpPr>
        <p:spPr>
          <a:xfrm>
            <a:off x="2331720" y="1700784"/>
            <a:ext cx="1828800" cy="452628"/>
          </a:xfrm>
          <a:prstGeom prst="rect">
            <a:avLst/>
          </a:prstGeom>
          <a:noFill/>
          <a:ln/>
        </p:spPr>
        <p:txBody>
          <a:bodyPr wrap="square" lIns="0" tIns="0" rIns="0" bIns="0" rtlCol="0" anchor="b"/>
          <a:lstStyle/>
          <a:p>
            <a:pPr marL="0" indent="0" algn="ctr">
              <a:buNone/>
            </a:pPr>
            <a:r>
              <a:rPr lang="en-US" sz="2800" b="1" dirty="0">
                <a:solidFill>
                  <a:srgbClr val="FFFFFF"/>
                </a:solidFill>
              </a:rPr>
              <a:t>21</a:t>
            </a:r>
            <a:endParaRPr lang="en-US" sz="2800" dirty="0"/>
          </a:p>
        </p:txBody>
      </p:sp>
      <p:sp>
        <p:nvSpPr>
          <p:cNvPr id="12" name="Text 10"/>
          <p:cNvSpPr/>
          <p:nvPr/>
        </p:nvSpPr>
        <p:spPr>
          <a:xfrm>
            <a:off x="2331720" y="2104949"/>
            <a:ext cx="1828800" cy="312725"/>
          </a:xfrm>
          <a:prstGeom prst="rect">
            <a:avLst/>
          </a:prstGeom>
          <a:noFill/>
          <a:ln/>
        </p:spPr>
        <p:txBody>
          <a:bodyPr wrap="square" lIns="0" tIns="0" rIns="0" bIns="0" rtlCol="0" anchor="t"/>
          <a:lstStyle/>
          <a:p>
            <a:pPr marL="0" indent="0" algn="ctr">
              <a:buNone/>
            </a:pPr>
            <a:r>
              <a:rPr lang="en-US" sz="1100" dirty="0">
                <a:solidFill>
                  <a:srgbClr val="FFFFFF"/>
                </a:solidFill>
              </a:rPr>
              <a:t>variables disponibles</a:t>
            </a:r>
            <a:endParaRPr lang="en-US" sz="1100" dirty="0"/>
          </a:p>
        </p:txBody>
      </p:sp>
      <p:sp>
        <p:nvSpPr>
          <p:cNvPr id="13" name="Shape 11"/>
          <p:cNvSpPr/>
          <p:nvPr/>
        </p:nvSpPr>
        <p:spPr>
          <a:xfrm>
            <a:off x="365760" y="2578608"/>
            <a:ext cx="1828800" cy="822960"/>
          </a:xfrm>
          <a:prstGeom prst="rect">
            <a:avLst/>
          </a:prstGeom>
          <a:solidFill>
            <a:srgbClr val="2E75B6"/>
          </a:solidFill>
          <a:ln/>
          <a:effectLst>
            <a:outerShdw blurRad="76200" dist="25400" dir="8100000" algn="bl" rotWithShape="0">
              <a:srgbClr val="000000">
                <a:alpha val="12000"/>
              </a:srgbClr>
            </a:outerShdw>
          </a:effectLst>
        </p:spPr>
        <p:txBody>
          <a:bodyPr/>
          <a:lstStyle/>
          <a:p>
            <a:endParaRPr lang="es-CL"/>
          </a:p>
        </p:txBody>
      </p:sp>
      <p:sp>
        <p:nvSpPr>
          <p:cNvPr id="14" name="Text 12"/>
          <p:cNvSpPr/>
          <p:nvPr/>
        </p:nvSpPr>
        <p:spPr>
          <a:xfrm>
            <a:off x="365760" y="2651760"/>
            <a:ext cx="1828800" cy="452628"/>
          </a:xfrm>
          <a:prstGeom prst="rect">
            <a:avLst/>
          </a:prstGeom>
          <a:noFill/>
          <a:ln/>
        </p:spPr>
        <p:txBody>
          <a:bodyPr wrap="square" lIns="0" tIns="0" rIns="0" bIns="0" rtlCol="0" anchor="b"/>
          <a:lstStyle/>
          <a:p>
            <a:pPr marL="0" indent="0" algn="ctr">
              <a:buNone/>
            </a:pPr>
            <a:r>
              <a:rPr lang="en-US" sz="2800" b="1" dirty="0">
                <a:solidFill>
                  <a:srgbClr val="FFFFFF"/>
                </a:solidFill>
              </a:rPr>
              <a:t>51%</a:t>
            </a:r>
            <a:endParaRPr lang="en-US" sz="2800" dirty="0"/>
          </a:p>
        </p:txBody>
      </p:sp>
      <p:sp>
        <p:nvSpPr>
          <p:cNvPr id="15" name="Text 13"/>
          <p:cNvSpPr/>
          <p:nvPr/>
        </p:nvSpPr>
        <p:spPr>
          <a:xfrm>
            <a:off x="365760" y="3055925"/>
            <a:ext cx="1828800" cy="312725"/>
          </a:xfrm>
          <a:prstGeom prst="rect">
            <a:avLst/>
          </a:prstGeom>
          <a:noFill/>
          <a:ln/>
        </p:spPr>
        <p:txBody>
          <a:bodyPr wrap="square" lIns="0" tIns="0" rIns="0" bIns="0" rtlCol="0" anchor="t"/>
          <a:lstStyle/>
          <a:p>
            <a:pPr marL="0" indent="0" algn="ctr">
              <a:buNone/>
            </a:pPr>
            <a:r>
              <a:rPr lang="en-US" sz="1100" dirty="0">
                <a:solidFill>
                  <a:srgbClr val="FFFFFF"/>
                </a:solidFill>
              </a:rPr>
              <a:t>clase Anual (target=1)</a:t>
            </a:r>
            <a:endParaRPr lang="en-US" sz="1100" dirty="0"/>
          </a:p>
        </p:txBody>
      </p:sp>
      <p:sp>
        <p:nvSpPr>
          <p:cNvPr id="16" name="Shape 14"/>
          <p:cNvSpPr/>
          <p:nvPr/>
        </p:nvSpPr>
        <p:spPr>
          <a:xfrm>
            <a:off x="2331720" y="2578608"/>
            <a:ext cx="1828800" cy="822960"/>
          </a:xfrm>
          <a:prstGeom prst="rect">
            <a:avLst/>
          </a:prstGeom>
          <a:solidFill>
            <a:srgbClr val="1F3864"/>
          </a:solidFill>
          <a:ln/>
          <a:effectLst>
            <a:outerShdw blurRad="76200" dist="25400" dir="8100000" algn="bl" rotWithShape="0">
              <a:srgbClr val="000000">
                <a:alpha val="12000"/>
              </a:srgbClr>
            </a:outerShdw>
          </a:effectLst>
        </p:spPr>
        <p:txBody>
          <a:bodyPr/>
          <a:lstStyle/>
          <a:p>
            <a:endParaRPr lang="es-CL"/>
          </a:p>
        </p:txBody>
      </p:sp>
      <p:sp>
        <p:nvSpPr>
          <p:cNvPr id="17" name="Text 15"/>
          <p:cNvSpPr/>
          <p:nvPr/>
        </p:nvSpPr>
        <p:spPr>
          <a:xfrm>
            <a:off x="2331720" y="2651760"/>
            <a:ext cx="1828800" cy="452628"/>
          </a:xfrm>
          <a:prstGeom prst="rect">
            <a:avLst/>
          </a:prstGeom>
          <a:noFill/>
          <a:ln/>
        </p:spPr>
        <p:txBody>
          <a:bodyPr wrap="square" lIns="0" tIns="0" rIns="0" bIns="0" rtlCol="0" anchor="b"/>
          <a:lstStyle/>
          <a:p>
            <a:pPr marL="0" indent="0" algn="ctr">
              <a:buNone/>
            </a:pPr>
            <a:r>
              <a:rPr lang="en-US" sz="2800" b="1" dirty="0">
                <a:solidFill>
                  <a:srgbClr val="FFFFFF"/>
                </a:solidFill>
              </a:rPr>
              <a:t>80/20</a:t>
            </a:r>
            <a:endParaRPr lang="en-US" sz="2800" dirty="0"/>
          </a:p>
        </p:txBody>
      </p:sp>
      <p:sp>
        <p:nvSpPr>
          <p:cNvPr id="18" name="Text 16"/>
          <p:cNvSpPr/>
          <p:nvPr/>
        </p:nvSpPr>
        <p:spPr>
          <a:xfrm>
            <a:off x="2331720" y="3055925"/>
            <a:ext cx="1828800" cy="312725"/>
          </a:xfrm>
          <a:prstGeom prst="rect">
            <a:avLst/>
          </a:prstGeom>
          <a:noFill/>
          <a:ln/>
        </p:spPr>
        <p:txBody>
          <a:bodyPr wrap="square" lIns="0" tIns="0" rIns="0" bIns="0" rtlCol="0" anchor="t"/>
          <a:lstStyle/>
          <a:p>
            <a:pPr marL="0" indent="0" algn="ctr">
              <a:buNone/>
            </a:pPr>
            <a:r>
              <a:rPr lang="en-US" sz="1100" dirty="0">
                <a:solidFill>
                  <a:srgbClr val="FFFFFF"/>
                </a:solidFill>
              </a:rPr>
              <a:t>split Train / Test</a:t>
            </a:r>
            <a:endParaRPr lang="en-US" sz="1100" dirty="0"/>
          </a:p>
        </p:txBody>
      </p:sp>
      <p:sp>
        <p:nvSpPr>
          <p:cNvPr id="19" name="Text 17"/>
          <p:cNvSpPr/>
          <p:nvPr/>
        </p:nvSpPr>
        <p:spPr>
          <a:xfrm>
            <a:off x="4663440" y="1261872"/>
            <a:ext cx="4114800" cy="292608"/>
          </a:xfrm>
          <a:prstGeom prst="rect">
            <a:avLst/>
          </a:prstGeom>
          <a:noFill/>
          <a:ln/>
        </p:spPr>
        <p:txBody>
          <a:bodyPr wrap="square" rtlCol="0" anchor="ctr"/>
          <a:lstStyle/>
          <a:p>
            <a:pPr marL="0" indent="0">
              <a:buNone/>
            </a:pPr>
            <a:r>
              <a:rPr lang="en-US" sz="1400" b="1" dirty="0">
                <a:solidFill>
                  <a:srgbClr val="1E2761"/>
                </a:solidFill>
              </a:rPr>
              <a:t>Segmentación K-Means (K=3)</a:t>
            </a:r>
            <a:endParaRPr lang="en-US" sz="1400" dirty="0"/>
          </a:p>
        </p:txBody>
      </p:sp>
      <p:sp>
        <p:nvSpPr>
          <p:cNvPr id="20" name="Shape 18"/>
          <p:cNvSpPr/>
          <p:nvPr/>
        </p:nvSpPr>
        <p:spPr>
          <a:xfrm>
            <a:off x="4663440" y="1627632"/>
            <a:ext cx="4114800" cy="685800"/>
          </a:xfrm>
          <a:prstGeom prst="rect">
            <a:avLst/>
          </a:prstGeom>
          <a:solidFill>
            <a:srgbClr val="27AE60">
              <a:alpha val="12000"/>
            </a:srgbClr>
          </a:solidFill>
          <a:ln/>
        </p:spPr>
        <p:txBody>
          <a:bodyPr/>
          <a:lstStyle/>
          <a:p>
            <a:endParaRPr lang="es-CL"/>
          </a:p>
        </p:txBody>
      </p:sp>
      <p:sp>
        <p:nvSpPr>
          <p:cNvPr id="21" name="Shape 19"/>
          <p:cNvSpPr/>
          <p:nvPr/>
        </p:nvSpPr>
        <p:spPr>
          <a:xfrm>
            <a:off x="4663440" y="1627632"/>
            <a:ext cx="73152" cy="685800"/>
          </a:xfrm>
          <a:prstGeom prst="rect">
            <a:avLst/>
          </a:prstGeom>
          <a:solidFill>
            <a:srgbClr val="27AE60"/>
          </a:solidFill>
          <a:ln/>
        </p:spPr>
        <p:txBody>
          <a:bodyPr/>
          <a:lstStyle/>
          <a:p>
            <a:endParaRPr lang="es-CL"/>
          </a:p>
        </p:txBody>
      </p:sp>
      <p:sp>
        <p:nvSpPr>
          <p:cNvPr id="22" name="Text 20"/>
          <p:cNvSpPr/>
          <p:nvPr/>
        </p:nvSpPr>
        <p:spPr>
          <a:xfrm>
            <a:off x="4800600" y="1664208"/>
            <a:ext cx="2286000" cy="256032"/>
          </a:xfrm>
          <a:prstGeom prst="rect">
            <a:avLst/>
          </a:prstGeom>
          <a:noFill/>
          <a:ln/>
        </p:spPr>
        <p:txBody>
          <a:bodyPr wrap="square" lIns="0" tIns="0" rIns="0" bIns="0" rtlCol="0" anchor="ctr"/>
          <a:lstStyle/>
          <a:p>
            <a:pPr marL="0" indent="0">
              <a:buNone/>
            </a:pPr>
            <a:r>
              <a:rPr lang="en-US" sz="1100" b="1" dirty="0">
                <a:solidFill>
                  <a:srgbClr val="1A1A2E"/>
                </a:solidFill>
              </a:rPr>
              <a:t>Clúster 0</a:t>
            </a:r>
            <a:endParaRPr lang="en-US" sz="1100" dirty="0"/>
          </a:p>
        </p:txBody>
      </p:sp>
      <p:sp>
        <p:nvSpPr>
          <p:cNvPr id="23" name="Text 21"/>
          <p:cNvSpPr/>
          <p:nvPr/>
        </p:nvSpPr>
        <p:spPr>
          <a:xfrm>
            <a:off x="6949440" y="1664208"/>
            <a:ext cx="1828800" cy="256032"/>
          </a:xfrm>
          <a:prstGeom prst="rect">
            <a:avLst/>
          </a:prstGeom>
          <a:noFill/>
          <a:ln/>
        </p:spPr>
        <p:txBody>
          <a:bodyPr wrap="square" lIns="0" tIns="0" rIns="0" bIns="0" rtlCol="0" anchor="ctr"/>
          <a:lstStyle/>
          <a:p>
            <a:pPr marL="0" indent="0" algn="r">
              <a:buNone/>
            </a:pPr>
            <a:r>
              <a:rPr lang="en-US" sz="1100" b="1" dirty="0">
                <a:solidFill>
                  <a:srgbClr val="27AE60"/>
                </a:solidFill>
              </a:rPr>
              <a:t>Activos</a:t>
            </a:r>
            <a:endParaRPr lang="en-US" sz="1100" dirty="0"/>
          </a:p>
        </p:txBody>
      </p:sp>
      <p:sp>
        <p:nvSpPr>
          <p:cNvPr id="24" name="Text 22"/>
          <p:cNvSpPr/>
          <p:nvPr/>
        </p:nvSpPr>
        <p:spPr>
          <a:xfrm>
            <a:off x="4800600" y="1947672"/>
            <a:ext cx="3840480" cy="256032"/>
          </a:xfrm>
          <a:prstGeom prst="rect">
            <a:avLst/>
          </a:prstGeom>
          <a:noFill/>
          <a:ln/>
        </p:spPr>
        <p:txBody>
          <a:bodyPr wrap="square" lIns="0" tIns="0" rIns="0" bIns="0" rtlCol="0" anchor="ctr"/>
          <a:lstStyle/>
          <a:p>
            <a:pPr marL="0" indent="0">
              <a:buNone/>
            </a:pPr>
            <a:r>
              <a:rPr lang="en-US" sz="1100" dirty="0">
                <a:solidFill>
                  <a:srgbClr val="64748B"/>
                </a:solidFill>
              </a:rPr>
              <a:t>~11 compras / 3m</a:t>
            </a:r>
            <a:endParaRPr lang="en-US" sz="1100" dirty="0"/>
          </a:p>
        </p:txBody>
      </p:sp>
      <p:sp>
        <p:nvSpPr>
          <p:cNvPr id="25" name="Shape 23"/>
          <p:cNvSpPr/>
          <p:nvPr/>
        </p:nvSpPr>
        <p:spPr>
          <a:xfrm>
            <a:off x="4663440" y="2432304"/>
            <a:ext cx="4114800" cy="685800"/>
          </a:xfrm>
          <a:prstGeom prst="rect">
            <a:avLst/>
          </a:prstGeom>
          <a:solidFill>
            <a:srgbClr val="2980B9">
              <a:alpha val="12000"/>
            </a:srgbClr>
          </a:solidFill>
          <a:ln/>
        </p:spPr>
        <p:txBody>
          <a:bodyPr/>
          <a:lstStyle/>
          <a:p>
            <a:endParaRPr lang="es-CL"/>
          </a:p>
        </p:txBody>
      </p:sp>
      <p:sp>
        <p:nvSpPr>
          <p:cNvPr id="26" name="Shape 24"/>
          <p:cNvSpPr/>
          <p:nvPr/>
        </p:nvSpPr>
        <p:spPr>
          <a:xfrm>
            <a:off x="4663440" y="2432304"/>
            <a:ext cx="73152" cy="685800"/>
          </a:xfrm>
          <a:prstGeom prst="rect">
            <a:avLst/>
          </a:prstGeom>
          <a:solidFill>
            <a:srgbClr val="2980B9"/>
          </a:solidFill>
          <a:ln/>
        </p:spPr>
        <p:txBody>
          <a:bodyPr/>
          <a:lstStyle/>
          <a:p>
            <a:endParaRPr lang="es-CL"/>
          </a:p>
        </p:txBody>
      </p:sp>
      <p:sp>
        <p:nvSpPr>
          <p:cNvPr id="27" name="Text 25"/>
          <p:cNvSpPr/>
          <p:nvPr/>
        </p:nvSpPr>
        <p:spPr>
          <a:xfrm>
            <a:off x="4800600" y="2468880"/>
            <a:ext cx="2286000" cy="256032"/>
          </a:xfrm>
          <a:prstGeom prst="rect">
            <a:avLst/>
          </a:prstGeom>
          <a:noFill/>
          <a:ln/>
        </p:spPr>
        <p:txBody>
          <a:bodyPr wrap="square" lIns="0" tIns="0" rIns="0" bIns="0" rtlCol="0" anchor="ctr"/>
          <a:lstStyle/>
          <a:p>
            <a:pPr marL="0" indent="0">
              <a:buNone/>
            </a:pPr>
            <a:r>
              <a:rPr lang="en-US" sz="1100" b="1" dirty="0">
                <a:solidFill>
                  <a:srgbClr val="1A1A2E"/>
                </a:solidFill>
              </a:rPr>
              <a:t>Clúster 1</a:t>
            </a:r>
            <a:endParaRPr lang="en-US" sz="1100" dirty="0"/>
          </a:p>
        </p:txBody>
      </p:sp>
      <p:sp>
        <p:nvSpPr>
          <p:cNvPr id="28" name="Text 26"/>
          <p:cNvSpPr/>
          <p:nvPr/>
        </p:nvSpPr>
        <p:spPr>
          <a:xfrm>
            <a:off x="6949440" y="2468880"/>
            <a:ext cx="1828800" cy="256032"/>
          </a:xfrm>
          <a:prstGeom prst="rect">
            <a:avLst/>
          </a:prstGeom>
          <a:noFill/>
          <a:ln/>
        </p:spPr>
        <p:txBody>
          <a:bodyPr wrap="square" lIns="0" tIns="0" rIns="0" bIns="0" rtlCol="0" anchor="ctr"/>
          <a:lstStyle/>
          <a:p>
            <a:pPr marL="0" indent="0" algn="r">
              <a:buNone/>
            </a:pPr>
            <a:r>
              <a:rPr lang="en-US" sz="1100" b="1" dirty="0">
                <a:solidFill>
                  <a:srgbClr val="2980B9"/>
                </a:solidFill>
              </a:rPr>
              <a:t>Regulares</a:t>
            </a:r>
            <a:endParaRPr lang="en-US" sz="1100" dirty="0"/>
          </a:p>
        </p:txBody>
      </p:sp>
      <p:sp>
        <p:nvSpPr>
          <p:cNvPr id="29" name="Text 27"/>
          <p:cNvSpPr/>
          <p:nvPr/>
        </p:nvSpPr>
        <p:spPr>
          <a:xfrm>
            <a:off x="4800600" y="2752344"/>
            <a:ext cx="3840480" cy="256032"/>
          </a:xfrm>
          <a:prstGeom prst="rect">
            <a:avLst/>
          </a:prstGeom>
          <a:noFill/>
          <a:ln/>
        </p:spPr>
        <p:txBody>
          <a:bodyPr wrap="square" lIns="0" tIns="0" rIns="0" bIns="0" rtlCol="0" anchor="ctr"/>
          <a:lstStyle/>
          <a:p>
            <a:pPr marL="0" indent="0">
              <a:buNone/>
            </a:pPr>
            <a:r>
              <a:rPr lang="en-US" sz="1100" dirty="0">
                <a:solidFill>
                  <a:srgbClr val="64748B"/>
                </a:solidFill>
              </a:rPr>
              <a:t>~7 compras / 3m</a:t>
            </a:r>
            <a:endParaRPr lang="en-US" sz="1100" dirty="0"/>
          </a:p>
        </p:txBody>
      </p:sp>
      <p:sp>
        <p:nvSpPr>
          <p:cNvPr id="30" name="Shape 28"/>
          <p:cNvSpPr/>
          <p:nvPr/>
        </p:nvSpPr>
        <p:spPr>
          <a:xfrm>
            <a:off x="4663440" y="3236976"/>
            <a:ext cx="4114800" cy="685800"/>
          </a:xfrm>
          <a:prstGeom prst="rect">
            <a:avLst/>
          </a:prstGeom>
          <a:solidFill>
            <a:srgbClr val="E74C3C">
              <a:alpha val="12000"/>
            </a:srgbClr>
          </a:solidFill>
          <a:ln/>
        </p:spPr>
        <p:txBody>
          <a:bodyPr/>
          <a:lstStyle/>
          <a:p>
            <a:endParaRPr lang="es-CL"/>
          </a:p>
        </p:txBody>
      </p:sp>
      <p:sp>
        <p:nvSpPr>
          <p:cNvPr id="31" name="Shape 29"/>
          <p:cNvSpPr/>
          <p:nvPr/>
        </p:nvSpPr>
        <p:spPr>
          <a:xfrm>
            <a:off x="4663440" y="3236976"/>
            <a:ext cx="73152" cy="685800"/>
          </a:xfrm>
          <a:prstGeom prst="rect">
            <a:avLst/>
          </a:prstGeom>
          <a:solidFill>
            <a:srgbClr val="E74C3C"/>
          </a:solidFill>
          <a:ln/>
        </p:spPr>
        <p:txBody>
          <a:bodyPr/>
          <a:lstStyle/>
          <a:p>
            <a:endParaRPr lang="es-CL"/>
          </a:p>
        </p:txBody>
      </p:sp>
      <p:sp>
        <p:nvSpPr>
          <p:cNvPr id="32" name="Text 30"/>
          <p:cNvSpPr/>
          <p:nvPr/>
        </p:nvSpPr>
        <p:spPr>
          <a:xfrm>
            <a:off x="4800600" y="3273552"/>
            <a:ext cx="2286000" cy="256032"/>
          </a:xfrm>
          <a:prstGeom prst="rect">
            <a:avLst/>
          </a:prstGeom>
          <a:noFill/>
          <a:ln/>
        </p:spPr>
        <p:txBody>
          <a:bodyPr wrap="square" lIns="0" tIns="0" rIns="0" bIns="0" rtlCol="0" anchor="ctr"/>
          <a:lstStyle/>
          <a:p>
            <a:pPr marL="0" indent="0">
              <a:buNone/>
            </a:pPr>
            <a:r>
              <a:rPr lang="en-US" sz="1100" b="1" dirty="0">
                <a:solidFill>
                  <a:srgbClr val="1A1A2E"/>
                </a:solidFill>
              </a:rPr>
              <a:t>Clúster 2</a:t>
            </a:r>
            <a:endParaRPr lang="en-US" sz="1100" dirty="0"/>
          </a:p>
        </p:txBody>
      </p:sp>
      <p:sp>
        <p:nvSpPr>
          <p:cNvPr id="33" name="Text 31"/>
          <p:cNvSpPr/>
          <p:nvPr/>
        </p:nvSpPr>
        <p:spPr>
          <a:xfrm>
            <a:off x="6949440" y="3273552"/>
            <a:ext cx="1828800" cy="256032"/>
          </a:xfrm>
          <a:prstGeom prst="rect">
            <a:avLst/>
          </a:prstGeom>
          <a:noFill/>
          <a:ln/>
        </p:spPr>
        <p:txBody>
          <a:bodyPr wrap="square" lIns="0" tIns="0" rIns="0" bIns="0" rtlCol="0" anchor="ctr"/>
          <a:lstStyle/>
          <a:p>
            <a:pPr marL="0" indent="0" algn="r">
              <a:buNone/>
            </a:pPr>
            <a:r>
              <a:rPr lang="en-US" sz="1100" b="1" dirty="0">
                <a:solidFill>
                  <a:srgbClr val="E74C3C"/>
                </a:solidFill>
              </a:rPr>
              <a:t>Esporádicos ⚠</a:t>
            </a:r>
            <a:endParaRPr lang="en-US" sz="1100" dirty="0"/>
          </a:p>
        </p:txBody>
      </p:sp>
      <p:sp>
        <p:nvSpPr>
          <p:cNvPr id="34" name="Text 32"/>
          <p:cNvSpPr/>
          <p:nvPr/>
        </p:nvSpPr>
        <p:spPr>
          <a:xfrm>
            <a:off x="4800600" y="3557016"/>
            <a:ext cx="3840480" cy="256032"/>
          </a:xfrm>
          <a:prstGeom prst="rect">
            <a:avLst/>
          </a:prstGeom>
          <a:noFill/>
          <a:ln/>
        </p:spPr>
        <p:txBody>
          <a:bodyPr wrap="square" lIns="0" tIns="0" rIns="0" bIns="0" rtlCol="0" anchor="ctr"/>
          <a:lstStyle/>
          <a:p>
            <a:pPr marL="0" indent="0">
              <a:buNone/>
            </a:pPr>
            <a:r>
              <a:rPr lang="en-US" sz="1100" dirty="0">
                <a:solidFill>
                  <a:srgbClr val="64748B"/>
                </a:solidFill>
              </a:rPr>
              <a:t>~3 compras / 3m</a:t>
            </a:r>
            <a:endParaRPr lang="en-US" sz="1100" dirty="0"/>
          </a:p>
        </p:txBody>
      </p:sp>
      <p:sp>
        <p:nvSpPr>
          <p:cNvPr id="35" name="Shape 33"/>
          <p:cNvSpPr/>
          <p:nvPr/>
        </p:nvSpPr>
        <p:spPr>
          <a:xfrm>
            <a:off x="365760" y="4407408"/>
            <a:ext cx="8412480" cy="548640"/>
          </a:xfrm>
          <a:prstGeom prst="rect">
            <a:avLst/>
          </a:prstGeom>
          <a:solidFill>
            <a:srgbClr val="F4F6FA"/>
          </a:solidFill>
          <a:ln/>
        </p:spPr>
        <p:txBody>
          <a:bodyPr/>
          <a:lstStyle/>
          <a:p>
            <a:endParaRPr lang="es-CL"/>
          </a:p>
        </p:txBody>
      </p:sp>
      <p:sp>
        <p:nvSpPr>
          <p:cNvPr id="36" name="Shape 34"/>
          <p:cNvSpPr/>
          <p:nvPr/>
        </p:nvSpPr>
        <p:spPr>
          <a:xfrm>
            <a:off x="365760" y="4407408"/>
            <a:ext cx="54864" cy="548640"/>
          </a:xfrm>
          <a:prstGeom prst="rect">
            <a:avLst/>
          </a:prstGeom>
          <a:solidFill>
            <a:srgbClr val="4472C4"/>
          </a:solidFill>
          <a:ln/>
        </p:spPr>
        <p:txBody>
          <a:bodyPr/>
          <a:lstStyle/>
          <a:p>
            <a:endParaRPr lang="es-CL"/>
          </a:p>
        </p:txBody>
      </p:sp>
      <p:sp>
        <p:nvSpPr>
          <p:cNvPr id="37" name="Text 35"/>
          <p:cNvSpPr/>
          <p:nvPr/>
        </p:nvSpPr>
        <p:spPr>
          <a:xfrm>
            <a:off x="502920" y="4453128"/>
            <a:ext cx="8138160" cy="457200"/>
          </a:xfrm>
          <a:prstGeom prst="rect">
            <a:avLst/>
          </a:prstGeom>
          <a:noFill/>
          <a:ln/>
        </p:spPr>
        <p:txBody>
          <a:bodyPr wrap="square" lIns="0" tIns="0" rIns="0" bIns="0" rtlCol="0" anchor="ctr"/>
          <a:lstStyle/>
          <a:p>
            <a:pPr marL="0" indent="0">
              <a:buNone/>
            </a:pPr>
            <a:r>
              <a:rPr lang="en-US" sz="1100" dirty="0">
                <a:solidFill>
                  <a:srgbClr val="1A1A2E"/>
                </a:solidFill>
              </a:rPr>
              <a:t>Clúster 2 es la oportunidad clave: visitan la plataforma igual que los demás pero compran 3.6× menos. Un estímulo pequeño puede moverlos a Regulares.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E2761"/>
          </a:solidFill>
          <a:ln/>
        </p:spPr>
        <p:txBody>
          <a:bodyPr/>
          <a:lstStyle/>
          <a:p>
            <a:endParaRPr lang="es-CL"/>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200" b="1" dirty="0">
                <a:solidFill>
                  <a:srgbClr val="FFFFFF"/>
                </a:solidFill>
              </a:rPr>
              <a:t>PARTE 1 · Dayana Vega  ·  Notebook 4: Modelado Supervisado</a:t>
            </a:r>
            <a:endParaRPr lang="en-US" sz="12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marL="0" indent="0">
              <a:buNone/>
            </a:pPr>
            <a:r>
              <a:rPr lang="en-US" sz="2600" b="1" dirty="0">
                <a:solidFill>
                  <a:srgbClr val="1A1A2E"/>
                </a:solidFill>
              </a:rPr>
              <a:t>Modelos Supervisados Base: RF vs. Regresión Logística</a:t>
            </a:r>
            <a:endParaRPr lang="en-US" sz="2600" dirty="0"/>
          </a:p>
        </p:txBody>
      </p:sp>
      <p:sp>
        <p:nvSpPr>
          <p:cNvPr id="5" name="Shape 3"/>
          <p:cNvSpPr/>
          <p:nvPr/>
        </p:nvSpPr>
        <p:spPr>
          <a:xfrm>
            <a:off x="365760" y="1170432"/>
            <a:ext cx="8412480" cy="27432"/>
          </a:xfrm>
          <a:prstGeom prst="rect">
            <a:avLst/>
          </a:prstGeom>
          <a:solidFill>
            <a:srgbClr val="CADCFC"/>
          </a:solidFill>
          <a:ln/>
        </p:spPr>
        <p:txBody>
          <a:bodyPr/>
          <a:lstStyle/>
          <a:p>
            <a:endParaRPr lang="es-CL"/>
          </a:p>
        </p:txBody>
      </p:sp>
      <p:sp>
        <p:nvSpPr>
          <p:cNvPr id="6" name="Shape 4"/>
          <p:cNvSpPr/>
          <p:nvPr/>
        </p:nvSpPr>
        <p:spPr>
          <a:xfrm>
            <a:off x="365760" y="1280160"/>
            <a:ext cx="4023360" cy="2926080"/>
          </a:xfrm>
          <a:prstGeom prst="rect">
            <a:avLst/>
          </a:prstGeom>
          <a:solidFill>
            <a:srgbClr val="F4F6FA"/>
          </a:solidFill>
          <a:ln/>
        </p:spPr>
        <p:txBody>
          <a:bodyPr/>
          <a:lstStyle/>
          <a:p>
            <a:endParaRPr lang="es-CL"/>
          </a:p>
        </p:txBody>
      </p:sp>
      <p:sp>
        <p:nvSpPr>
          <p:cNvPr id="7" name="Shape 5"/>
          <p:cNvSpPr/>
          <p:nvPr/>
        </p:nvSpPr>
        <p:spPr>
          <a:xfrm>
            <a:off x="365760" y="1280160"/>
            <a:ext cx="4023360" cy="54864"/>
          </a:xfrm>
          <a:prstGeom prst="rect">
            <a:avLst/>
          </a:prstGeom>
          <a:solidFill>
            <a:srgbClr val="4472C4"/>
          </a:solidFill>
          <a:ln/>
        </p:spPr>
        <p:txBody>
          <a:bodyPr/>
          <a:lstStyle/>
          <a:p>
            <a:endParaRPr lang="es-CL"/>
          </a:p>
        </p:txBody>
      </p:sp>
      <p:pic>
        <p:nvPicPr>
          <p:cNvPr id="8" name="Image 0" descr="preencoded.png"/>
          <p:cNvPicPr>
            <a:picLocks noChangeAspect="1"/>
          </p:cNvPicPr>
          <p:nvPr/>
        </p:nvPicPr>
        <p:blipFill>
          <a:blip r:embed="rId3"/>
          <a:stretch>
            <a:fillRect/>
          </a:stretch>
        </p:blipFill>
        <p:spPr>
          <a:xfrm>
            <a:off x="548640" y="1371600"/>
            <a:ext cx="411480" cy="411480"/>
          </a:xfrm>
          <a:prstGeom prst="rect">
            <a:avLst/>
          </a:prstGeom>
        </p:spPr>
      </p:pic>
      <p:sp>
        <p:nvSpPr>
          <p:cNvPr id="9" name="Text 6"/>
          <p:cNvSpPr/>
          <p:nvPr/>
        </p:nvSpPr>
        <p:spPr>
          <a:xfrm>
            <a:off x="1051560" y="1389888"/>
            <a:ext cx="3200400" cy="347472"/>
          </a:xfrm>
          <a:prstGeom prst="rect">
            <a:avLst/>
          </a:prstGeom>
          <a:noFill/>
          <a:ln/>
        </p:spPr>
        <p:txBody>
          <a:bodyPr wrap="square" lIns="0" tIns="0" rIns="0" bIns="0" rtlCol="0" anchor="ctr"/>
          <a:lstStyle/>
          <a:p>
            <a:pPr marL="0" indent="0">
              <a:buNone/>
            </a:pPr>
            <a:r>
              <a:rPr lang="en-US" sz="1500" b="1" dirty="0">
                <a:solidFill>
                  <a:srgbClr val="1E2761"/>
                </a:solidFill>
              </a:rPr>
              <a:t>Random Forest</a:t>
            </a:r>
            <a:endParaRPr lang="en-US" sz="1500" dirty="0"/>
          </a:p>
        </p:txBody>
      </p:sp>
      <p:sp>
        <p:nvSpPr>
          <p:cNvPr id="10" name="Shape 7"/>
          <p:cNvSpPr/>
          <p:nvPr/>
        </p:nvSpPr>
        <p:spPr>
          <a:xfrm>
            <a:off x="457200" y="1901952"/>
            <a:ext cx="3840480" cy="347472"/>
          </a:xfrm>
          <a:prstGeom prst="rect">
            <a:avLst/>
          </a:prstGeom>
          <a:solidFill>
            <a:srgbClr val="FFFFFF"/>
          </a:solidFill>
          <a:ln/>
        </p:spPr>
        <p:txBody>
          <a:bodyPr/>
          <a:lstStyle/>
          <a:p>
            <a:endParaRPr lang="es-CL"/>
          </a:p>
        </p:txBody>
      </p:sp>
      <p:sp>
        <p:nvSpPr>
          <p:cNvPr id="11" name="Text 8"/>
          <p:cNvSpPr/>
          <p:nvPr/>
        </p:nvSpPr>
        <p:spPr>
          <a:xfrm>
            <a:off x="548640" y="1938528"/>
            <a:ext cx="2286000" cy="274320"/>
          </a:xfrm>
          <a:prstGeom prst="rect">
            <a:avLst/>
          </a:prstGeom>
          <a:noFill/>
          <a:ln/>
        </p:spPr>
        <p:txBody>
          <a:bodyPr wrap="square" lIns="0" tIns="0" rIns="0" bIns="0" rtlCol="0" anchor="ctr"/>
          <a:lstStyle/>
          <a:p>
            <a:pPr marL="0" indent="0">
              <a:buNone/>
            </a:pPr>
            <a:r>
              <a:rPr lang="en-US" sz="1100" dirty="0">
                <a:solidFill>
                  <a:srgbClr val="64748B"/>
                </a:solidFill>
              </a:rPr>
              <a:t>ROC-AUC</a:t>
            </a:r>
            <a:endParaRPr lang="en-US" sz="1100" dirty="0"/>
          </a:p>
        </p:txBody>
      </p:sp>
      <p:sp>
        <p:nvSpPr>
          <p:cNvPr id="12" name="Text 9"/>
          <p:cNvSpPr/>
          <p:nvPr/>
        </p:nvSpPr>
        <p:spPr>
          <a:xfrm>
            <a:off x="2743200" y="1938528"/>
            <a:ext cx="1463040" cy="274320"/>
          </a:xfrm>
          <a:prstGeom prst="rect">
            <a:avLst/>
          </a:prstGeom>
          <a:noFill/>
          <a:ln/>
        </p:spPr>
        <p:txBody>
          <a:bodyPr wrap="square" lIns="0" tIns="0" rIns="0" bIns="0" rtlCol="0" anchor="ctr"/>
          <a:lstStyle/>
          <a:p>
            <a:pPr marL="0" indent="0" algn="r">
              <a:buNone/>
            </a:pPr>
            <a:r>
              <a:rPr lang="en-US" sz="1200" b="1" dirty="0">
                <a:solidFill>
                  <a:srgbClr val="1E2761"/>
                </a:solidFill>
              </a:rPr>
              <a:t>0.6262</a:t>
            </a:r>
            <a:endParaRPr lang="en-US" sz="1200" dirty="0"/>
          </a:p>
        </p:txBody>
      </p:sp>
      <p:sp>
        <p:nvSpPr>
          <p:cNvPr id="13" name="Shape 10"/>
          <p:cNvSpPr/>
          <p:nvPr/>
        </p:nvSpPr>
        <p:spPr>
          <a:xfrm>
            <a:off x="457200" y="2331720"/>
            <a:ext cx="3840480" cy="347472"/>
          </a:xfrm>
          <a:prstGeom prst="rect">
            <a:avLst/>
          </a:prstGeom>
          <a:solidFill>
            <a:srgbClr val="EEF2FB"/>
          </a:solidFill>
          <a:ln/>
        </p:spPr>
        <p:txBody>
          <a:bodyPr/>
          <a:lstStyle/>
          <a:p>
            <a:endParaRPr lang="es-CL"/>
          </a:p>
        </p:txBody>
      </p:sp>
      <p:sp>
        <p:nvSpPr>
          <p:cNvPr id="14" name="Text 11"/>
          <p:cNvSpPr/>
          <p:nvPr/>
        </p:nvSpPr>
        <p:spPr>
          <a:xfrm>
            <a:off x="548640" y="2368296"/>
            <a:ext cx="2286000" cy="274320"/>
          </a:xfrm>
          <a:prstGeom prst="rect">
            <a:avLst/>
          </a:prstGeom>
          <a:noFill/>
          <a:ln/>
        </p:spPr>
        <p:txBody>
          <a:bodyPr wrap="square" lIns="0" tIns="0" rIns="0" bIns="0" rtlCol="0" anchor="ctr"/>
          <a:lstStyle/>
          <a:p>
            <a:pPr marL="0" indent="0">
              <a:buNone/>
            </a:pPr>
            <a:r>
              <a:rPr lang="en-US" sz="1100" dirty="0">
                <a:solidFill>
                  <a:srgbClr val="64748B"/>
                </a:solidFill>
              </a:rPr>
              <a:t>CV Accuracy</a:t>
            </a:r>
            <a:endParaRPr lang="en-US" sz="1100" dirty="0"/>
          </a:p>
        </p:txBody>
      </p:sp>
      <p:sp>
        <p:nvSpPr>
          <p:cNvPr id="15" name="Text 12"/>
          <p:cNvSpPr/>
          <p:nvPr/>
        </p:nvSpPr>
        <p:spPr>
          <a:xfrm>
            <a:off x="2743200" y="2368296"/>
            <a:ext cx="1463040" cy="274320"/>
          </a:xfrm>
          <a:prstGeom prst="rect">
            <a:avLst/>
          </a:prstGeom>
          <a:noFill/>
          <a:ln/>
        </p:spPr>
        <p:txBody>
          <a:bodyPr wrap="square" lIns="0" tIns="0" rIns="0" bIns="0" rtlCol="0" anchor="ctr"/>
          <a:lstStyle/>
          <a:p>
            <a:pPr marL="0" indent="0" algn="r">
              <a:buNone/>
            </a:pPr>
            <a:r>
              <a:rPr lang="en-US" sz="1200" b="1" dirty="0">
                <a:solidFill>
                  <a:srgbClr val="1E2761"/>
                </a:solidFill>
              </a:rPr>
              <a:t>0.5654 ± 0.0069</a:t>
            </a:r>
            <a:endParaRPr lang="en-US" sz="1200" dirty="0"/>
          </a:p>
        </p:txBody>
      </p:sp>
      <p:sp>
        <p:nvSpPr>
          <p:cNvPr id="16" name="Shape 13"/>
          <p:cNvSpPr/>
          <p:nvPr/>
        </p:nvSpPr>
        <p:spPr>
          <a:xfrm>
            <a:off x="457200" y="2761488"/>
            <a:ext cx="3840480" cy="347472"/>
          </a:xfrm>
          <a:prstGeom prst="rect">
            <a:avLst/>
          </a:prstGeom>
          <a:solidFill>
            <a:srgbClr val="FFFFFF"/>
          </a:solidFill>
          <a:ln/>
        </p:spPr>
        <p:txBody>
          <a:bodyPr/>
          <a:lstStyle/>
          <a:p>
            <a:endParaRPr lang="es-CL"/>
          </a:p>
        </p:txBody>
      </p:sp>
      <p:sp>
        <p:nvSpPr>
          <p:cNvPr id="17" name="Text 14"/>
          <p:cNvSpPr/>
          <p:nvPr/>
        </p:nvSpPr>
        <p:spPr>
          <a:xfrm>
            <a:off x="548640" y="2798064"/>
            <a:ext cx="2286000" cy="274320"/>
          </a:xfrm>
          <a:prstGeom prst="rect">
            <a:avLst/>
          </a:prstGeom>
          <a:noFill/>
          <a:ln/>
        </p:spPr>
        <p:txBody>
          <a:bodyPr wrap="square" lIns="0" tIns="0" rIns="0" bIns="0" rtlCol="0" anchor="ctr"/>
          <a:lstStyle/>
          <a:p>
            <a:pPr marL="0" indent="0">
              <a:buNone/>
            </a:pPr>
            <a:r>
              <a:rPr lang="en-US" sz="1100" dirty="0">
                <a:solidFill>
                  <a:srgbClr val="64748B"/>
                </a:solidFill>
              </a:rPr>
              <a:t>F1 Clase 0</a:t>
            </a:r>
            <a:endParaRPr lang="en-US" sz="1100" dirty="0"/>
          </a:p>
        </p:txBody>
      </p:sp>
      <p:sp>
        <p:nvSpPr>
          <p:cNvPr id="18" name="Text 15"/>
          <p:cNvSpPr/>
          <p:nvPr/>
        </p:nvSpPr>
        <p:spPr>
          <a:xfrm>
            <a:off x="2743200" y="2798064"/>
            <a:ext cx="1463040" cy="274320"/>
          </a:xfrm>
          <a:prstGeom prst="rect">
            <a:avLst/>
          </a:prstGeom>
          <a:noFill/>
          <a:ln/>
        </p:spPr>
        <p:txBody>
          <a:bodyPr wrap="square" lIns="0" tIns="0" rIns="0" bIns="0" rtlCol="0" anchor="ctr"/>
          <a:lstStyle/>
          <a:p>
            <a:pPr marL="0" indent="0" algn="r">
              <a:buNone/>
            </a:pPr>
            <a:r>
              <a:rPr lang="en-US" sz="1200" b="1" dirty="0">
                <a:solidFill>
                  <a:srgbClr val="1E2761"/>
                </a:solidFill>
              </a:rPr>
              <a:t>0.55</a:t>
            </a:r>
            <a:endParaRPr lang="en-US" sz="1200" dirty="0"/>
          </a:p>
        </p:txBody>
      </p:sp>
      <p:sp>
        <p:nvSpPr>
          <p:cNvPr id="19" name="Shape 16"/>
          <p:cNvSpPr/>
          <p:nvPr/>
        </p:nvSpPr>
        <p:spPr>
          <a:xfrm>
            <a:off x="457200" y="3191256"/>
            <a:ext cx="3840480" cy="347472"/>
          </a:xfrm>
          <a:prstGeom prst="rect">
            <a:avLst/>
          </a:prstGeom>
          <a:solidFill>
            <a:srgbClr val="EEF2FB"/>
          </a:solidFill>
          <a:ln/>
        </p:spPr>
        <p:txBody>
          <a:bodyPr/>
          <a:lstStyle/>
          <a:p>
            <a:endParaRPr lang="es-CL"/>
          </a:p>
        </p:txBody>
      </p:sp>
      <p:sp>
        <p:nvSpPr>
          <p:cNvPr id="20" name="Text 17"/>
          <p:cNvSpPr/>
          <p:nvPr/>
        </p:nvSpPr>
        <p:spPr>
          <a:xfrm>
            <a:off x="548640" y="3227832"/>
            <a:ext cx="2286000" cy="274320"/>
          </a:xfrm>
          <a:prstGeom prst="rect">
            <a:avLst/>
          </a:prstGeom>
          <a:noFill/>
          <a:ln/>
        </p:spPr>
        <p:txBody>
          <a:bodyPr wrap="square" lIns="0" tIns="0" rIns="0" bIns="0" rtlCol="0" anchor="ctr"/>
          <a:lstStyle/>
          <a:p>
            <a:pPr marL="0" indent="0">
              <a:buNone/>
            </a:pPr>
            <a:r>
              <a:rPr lang="en-US" sz="1100" dirty="0">
                <a:solidFill>
                  <a:srgbClr val="64748B"/>
                </a:solidFill>
              </a:rPr>
              <a:t>F1 Clase 1</a:t>
            </a:r>
            <a:endParaRPr lang="en-US" sz="1100" dirty="0"/>
          </a:p>
        </p:txBody>
      </p:sp>
      <p:sp>
        <p:nvSpPr>
          <p:cNvPr id="21" name="Text 18"/>
          <p:cNvSpPr/>
          <p:nvPr/>
        </p:nvSpPr>
        <p:spPr>
          <a:xfrm>
            <a:off x="2743200" y="3227832"/>
            <a:ext cx="1463040" cy="274320"/>
          </a:xfrm>
          <a:prstGeom prst="rect">
            <a:avLst/>
          </a:prstGeom>
          <a:noFill/>
          <a:ln/>
        </p:spPr>
        <p:txBody>
          <a:bodyPr wrap="square" lIns="0" tIns="0" rIns="0" bIns="0" rtlCol="0" anchor="ctr"/>
          <a:lstStyle/>
          <a:p>
            <a:pPr marL="0" indent="0" algn="r">
              <a:buNone/>
            </a:pPr>
            <a:r>
              <a:rPr lang="en-US" sz="1200" b="1" dirty="0">
                <a:solidFill>
                  <a:srgbClr val="1E2761"/>
                </a:solidFill>
              </a:rPr>
              <a:t>0.59</a:t>
            </a:r>
            <a:endParaRPr lang="en-US" sz="1200" dirty="0"/>
          </a:p>
        </p:txBody>
      </p:sp>
      <p:sp>
        <p:nvSpPr>
          <p:cNvPr id="22" name="Shape 19"/>
          <p:cNvSpPr/>
          <p:nvPr/>
        </p:nvSpPr>
        <p:spPr>
          <a:xfrm>
            <a:off x="457200" y="3621024"/>
            <a:ext cx="3840480" cy="347472"/>
          </a:xfrm>
          <a:prstGeom prst="rect">
            <a:avLst/>
          </a:prstGeom>
          <a:solidFill>
            <a:srgbClr val="FFFFFF"/>
          </a:solidFill>
          <a:ln/>
        </p:spPr>
        <p:txBody>
          <a:bodyPr/>
          <a:lstStyle/>
          <a:p>
            <a:endParaRPr lang="es-CL"/>
          </a:p>
        </p:txBody>
      </p:sp>
      <p:sp>
        <p:nvSpPr>
          <p:cNvPr id="23" name="Text 20"/>
          <p:cNvSpPr/>
          <p:nvPr/>
        </p:nvSpPr>
        <p:spPr>
          <a:xfrm>
            <a:off x="548640" y="3657600"/>
            <a:ext cx="2286000" cy="274320"/>
          </a:xfrm>
          <a:prstGeom prst="rect">
            <a:avLst/>
          </a:prstGeom>
          <a:noFill/>
          <a:ln/>
        </p:spPr>
        <p:txBody>
          <a:bodyPr wrap="square" lIns="0" tIns="0" rIns="0" bIns="0" rtlCol="0" anchor="ctr"/>
          <a:lstStyle/>
          <a:p>
            <a:pPr marL="0" indent="0">
              <a:buNone/>
            </a:pPr>
            <a:r>
              <a:rPr lang="en-US" sz="1100" dirty="0">
                <a:solidFill>
                  <a:srgbClr val="64748B"/>
                </a:solidFill>
              </a:rPr>
              <a:t>Falsos Neg.</a:t>
            </a:r>
            <a:endParaRPr lang="en-US" sz="1100" dirty="0"/>
          </a:p>
        </p:txBody>
      </p:sp>
      <p:sp>
        <p:nvSpPr>
          <p:cNvPr id="24" name="Text 21"/>
          <p:cNvSpPr/>
          <p:nvPr/>
        </p:nvSpPr>
        <p:spPr>
          <a:xfrm>
            <a:off x="2743200" y="3657600"/>
            <a:ext cx="1463040" cy="274320"/>
          </a:xfrm>
          <a:prstGeom prst="rect">
            <a:avLst/>
          </a:prstGeom>
          <a:noFill/>
          <a:ln/>
        </p:spPr>
        <p:txBody>
          <a:bodyPr wrap="square" lIns="0" tIns="0" rIns="0" bIns="0" rtlCol="0" anchor="ctr"/>
          <a:lstStyle/>
          <a:p>
            <a:pPr marL="0" indent="0" algn="r">
              <a:buNone/>
            </a:pPr>
            <a:r>
              <a:rPr lang="en-US" sz="1200" b="1" dirty="0">
                <a:solidFill>
                  <a:srgbClr val="1E2761"/>
                </a:solidFill>
              </a:rPr>
              <a:t>646 ⚠</a:t>
            </a:r>
            <a:endParaRPr lang="en-US" sz="1200" dirty="0"/>
          </a:p>
        </p:txBody>
      </p:sp>
      <p:sp>
        <p:nvSpPr>
          <p:cNvPr id="25" name="Shape 22"/>
          <p:cNvSpPr/>
          <p:nvPr/>
        </p:nvSpPr>
        <p:spPr>
          <a:xfrm>
            <a:off x="457200" y="4041648"/>
            <a:ext cx="3840480" cy="73152"/>
          </a:xfrm>
          <a:prstGeom prst="rect">
            <a:avLst/>
          </a:prstGeom>
          <a:solidFill>
            <a:srgbClr val="27AE60"/>
          </a:solidFill>
          <a:ln/>
        </p:spPr>
        <p:txBody>
          <a:bodyPr/>
          <a:lstStyle/>
          <a:p>
            <a:endParaRPr lang="es-CL"/>
          </a:p>
        </p:txBody>
      </p:sp>
      <p:sp>
        <p:nvSpPr>
          <p:cNvPr id="26" name="Text 23"/>
          <p:cNvSpPr/>
          <p:nvPr/>
        </p:nvSpPr>
        <p:spPr>
          <a:xfrm>
            <a:off x="457200" y="3822192"/>
            <a:ext cx="3840480" cy="256032"/>
          </a:xfrm>
          <a:prstGeom prst="rect">
            <a:avLst/>
          </a:prstGeom>
          <a:noFill/>
          <a:ln/>
        </p:spPr>
        <p:txBody>
          <a:bodyPr wrap="square" rtlCol="0" anchor="ctr"/>
          <a:lstStyle/>
          <a:p>
            <a:pPr marL="0" indent="0" algn="ctr">
              <a:buNone/>
            </a:pPr>
            <a:r>
              <a:rPr lang="en-US" sz="1000" b="1" dirty="0">
                <a:solidFill>
                  <a:srgbClr val="27AE60"/>
                </a:solidFill>
              </a:rPr>
              <a:t>✓ Modelo seleccionado</a:t>
            </a:r>
            <a:endParaRPr lang="en-US" sz="1000" dirty="0"/>
          </a:p>
        </p:txBody>
      </p:sp>
      <p:sp>
        <p:nvSpPr>
          <p:cNvPr id="27" name="Shape 24"/>
          <p:cNvSpPr/>
          <p:nvPr/>
        </p:nvSpPr>
        <p:spPr>
          <a:xfrm>
            <a:off x="4754880" y="1280160"/>
            <a:ext cx="4023360" cy="2926080"/>
          </a:xfrm>
          <a:prstGeom prst="rect">
            <a:avLst/>
          </a:prstGeom>
          <a:solidFill>
            <a:srgbClr val="F4F6FA"/>
          </a:solidFill>
          <a:ln/>
        </p:spPr>
        <p:txBody>
          <a:bodyPr/>
          <a:lstStyle/>
          <a:p>
            <a:endParaRPr lang="es-CL"/>
          </a:p>
        </p:txBody>
      </p:sp>
      <p:sp>
        <p:nvSpPr>
          <p:cNvPr id="28" name="Shape 25"/>
          <p:cNvSpPr/>
          <p:nvPr/>
        </p:nvSpPr>
        <p:spPr>
          <a:xfrm>
            <a:off x="4754880" y="1280160"/>
            <a:ext cx="4023360" cy="54864"/>
          </a:xfrm>
          <a:prstGeom prst="rect">
            <a:avLst/>
          </a:prstGeom>
          <a:solidFill>
            <a:srgbClr val="9B9B9B"/>
          </a:solidFill>
          <a:ln/>
        </p:spPr>
        <p:txBody>
          <a:bodyPr/>
          <a:lstStyle/>
          <a:p>
            <a:endParaRPr lang="es-CL"/>
          </a:p>
        </p:txBody>
      </p:sp>
      <p:sp>
        <p:nvSpPr>
          <p:cNvPr id="29" name="Text 26"/>
          <p:cNvSpPr/>
          <p:nvPr/>
        </p:nvSpPr>
        <p:spPr>
          <a:xfrm>
            <a:off x="4892040" y="1389888"/>
            <a:ext cx="3749040" cy="347472"/>
          </a:xfrm>
          <a:prstGeom prst="rect">
            <a:avLst/>
          </a:prstGeom>
          <a:noFill/>
          <a:ln/>
        </p:spPr>
        <p:txBody>
          <a:bodyPr wrap="square" lIns="0" tIns="0" rIns="0" bIns="0" rtlCol="0" anchor="ctr"/>
          <a:lstStyle/>
          <a:p>
            <a:pPr marL="0" indent="0">
              <a:buNone/>
            </a:pPr>
            <a:r>
              <a:rPr lang="en-US" sz="1500" b="1" dirty="0">
                <a:solidFill>
                  <a:srgbClr val="555555"/>
                </a:solidFill>
              </a:rPr>
              <a:t>Regresión Logística</a:t>
            </a:r>
            <a:endParaRPr lang="en-US" sz="1500" dirty="0"/>
          </a:p>
        </p:txBody>
      </p:sp>
      <p:sp>
        <p:nvSpPr>
          <p:cNvPr id="30" name="Shape 27"/>
          <p:cNvSpPr/>
          <p:nvPr/>
        </p:nvSpPr>
        <p:spPr>
          <a:xfrm>
            <a:off x="4846320" y="1901952"/>
            <a:ext cx="3840480" cy="347472"/>
          </a:xfrm>
          <a:prstGeom prst="rect">
            <a:avLst/>
          </a:prstGeom>
          <a:solidFill>
            <a:srgbClr val="FFFFFF"/>
          </a:solidFill>
          <a:ln/>
        </p:spPr>
        <p:txBody>
          <a:bodyPr/>
          <a:lstStyle/>
          <a:p>
            <a:endParaRPr lang="es-CL"/>
          </a:p>
        </p:txBody>
      </p:sp>
      <p:sp>
        <p:nvSpPr>
          <p:cNvPr id="31" name="Text 28"/>
          <p:cNvSpPr/>
          <p:nvPr/>
        </p:nvSpPr>
        <p:spPr>
          <a:xfrm>
            <a:off x="4937760" y="1938528"/>
            <a:ext cx="2286000" cy="274320"/>
          </a:xfrm>
          <a:prstGeom prst="rect">
            <a:avLst/>
          </a:prstGeom>
          <a:noFill/>
          <a:ln/>
        </p:spPr>
        <p:txBody>
          <a:bodyPr wrap="square" lIns="0" tIns="0" rIns="0" bIns="0" rtlCol="0" anchor="ctr"/>
          <a:lstStyle/>
          <a:p>
            <a:pPr marL="0" indent="0">
              <a:buNone/>
            </a:pPr>
            <a:r>
              <a:rPr lang="en-US" sz="1100" dirty="0">
                <a:solidFill>
                  <a:srgbClr val="64748B"/>
                </a:solidFill>
              </a:rPr>
              <a:t>ROC-AUC</a:t>
            </a:r>
            <a:endParaRPr lang="en-US" sz="1100" dirty="0"/>
          </a:p>
        </p:txBody>
      </p:sp>
      <p:sp>
        <p:nvSpPr>
          <p:cNvPr id="32" name="Text 29"/>
          <p:cNvSpPr/>
          <p:nvPr/>
        </p:nvSpPr>
        <p:spPr>
          <a:xfrm>
            <a:off x="7132320" y="1938528"/>
            <a:ext cx="1463040" cy="274320"/>
          </a:xfrm>
          <a:prstGeom prst="rect">
            <a:avLst/>
          </a:prstGeom>
          <a:noFill/>
          <a:ln/>
        </p:spPr>
        <p:txBody>
          <a:bodyPr wrap="square" lIns="0" tIns="0" rIns="0" bIns="0" rtlCol="0" anchor="ctr"/>
          <a:lstStyle/>
          <a:p>
            <a:pPr marL="0" indent="0" algn="r">
              <a:buNone/>
            </a:pPr>
            <a:r>
              <a:rPr lang="en-US" sz="1200" b="1" dirty="0">
                <a:solidFill>
                  <a:srgbClr val="777777"/>
                </a:solidFill>
              </a:rPr>
              <a:t>0.5058</a:t>
            </a:r>
            <a:endParaRPr lang="en-US" sz="1200" dirty="0"/>
          </a:p>
        </p:txBody>
      </p:sp>
      <p:sp>
        <p:nvSpPr>
          <p:cNvPr id="33" name="Shape 30"/>
          <p:cNvSpPr/>
          <p:nvPr/>
        </p:nvSpPr>
        <p:spPr>
          <a:xfrm>
            <a:off x="4846320" y="2331720"/>
            <a:ext cx="3840480" cy="347472"/>
          </a:xfrm>
          <a:prstGeom prst="rect">
            <a:avLst/>
          </a:prstGeom>
          <a:solidFill>
            <a:srgbClr val="F5F5F5"/>
          </a:solidFill>
          <a:ln/>
        </p:spPr>
        <p:txBody>
          <a:bodyPr/>
          <a:lstStyle/>
          <a:p>
            <a:endParaRPr lang="es-CL"/>
          </a:p>
        </p:txBody>
      </p:sp>
      <p:sp>
        <p:nvSpPr>
          <p:cNvPr id="34" name="Text 31"/>
          <p:cNvSpPr/>
          <p:nvPr/>
        </p:nvSpPr>
        <p:spPr>
          <a:xfrm>
            <a:off x="4937760" y="2368296"/>
            <a:ext cx="2286000" cy="274320"/>
          </a:xfrm>
          <a:prstGeom prst="rect">
            <a:avLst/>
          </a:prstGeom>
          <a:noFill/>
          <a:ln/>
        </p:spPr>
        <p:txBody>
          <a:bodyPr wrap="square" lIns="0" tIns="0" rIns="0" bIns="0" rtlCol="0" anchor="ctr"/>
          <a:lstStyle/>
          <a:p>
            <a:pPr marL="0" indent="0">
              <a:buNone/>
            </a:pPr>
            <a:r>
              <a:rPr lang="en-US" sz="1100" dirty="0">
                <a:solidFill>
                  <a:srgbClr val="64748B"/>
                </a:solidFill>
              </a:rPr>
              <a:t>CV Accuracy</a:t>
            </a:r>
            <a:endParaRPr lang="en-US" sz="1100" dirty="0"/>
          </a:p>
        </p:txBody>
      </p:sp>
      <p:sp>
        <p:nvSpPr>
          <p:cNvPr id="35" name="Text 32"/>
          <p:cNvSpPr/>
          <p:nvPr/>
        </p:nvSpPr>
        <p:spPr>
          <a:xfrm>
            <a:off x="7132320" y="2368296"/>
            <a:ext cx="1463040" cy="274320"/>
          </a:xfrm>
          <a:prstGeom prst="rect">
            <a:avLst/>
          </a:prstGeom>
          <a:noFill/>
          <a:ln/>
        </p:spPr>
        <p:txBody>
          <a:bodyPr wrap="square" lIns="0" tIns="0" rIns="0" bIns="0" rtlCol="0" anchor="ctr"/>
          <a:lstStyle/>
          <a:p>
            <a:pPr marL="0" indent="0" algn="r">
              <a:buNone/>
            </a:pPr>
            <a:r>
              <a:rPr lang="en-US" sz="1200" b="1" dirty="0">
                <a:solidFill>
                  <a:srgbClr val="777777"/>
                </a:solidFill>
              </a:rPr>
              <a:t>0.5032 ± 0.0118</a:t>
            </a:r>
            <a:endParaRPr lang="en-US" sz="1200" dirty="0"/>
          </a:p>
        </p:txBody>
      </p:sp>
      <p:sp>
        <p:nvSpPr>
          <p:cNvPr id="36" name="Shape 33"/>
          <p:cNvSpPr/>
          <p:nvPr/>
        </p:nvSpPr>
        <p:spPr>
          <a:xfrm>
            <a:off x="4846320" y="2761488"/>
            <a:ext cx="3840480" cy="347472"/>
          </a:xfrm>
          <a:prstGeom prst="rect">
            <a:avLst/>
          </a:prstGeom>
          <a:solidFill>
            <a:srgbClr val="FFFFFF"/>
          </a:solidFill>
          <a:ln/>
        </p:spPr>
        <p:txBody>
          <a:bodyPr/>
          <a:lstStyle/>
          <a:p>
            <a:endParaRPr lang="es-CL"/>
          </a:p>
        </p:txBody>
      </p:sp>
      <p:sp>
        <p:nvSpPr>
          <p:cNvPr id="37" name="Text 34"/>
          <p:cNvSpPr/>
          <p:nvPr/>
        </p:nvSpPr>
        <p:spPr>
          <a:xfrm>
            <a:off x="4937760" y="2798064"/>
            <a:ext cx="2286000" cy="274320"/>
          </a:xfrm>
          <a:prstGeom prst="rect">
            <a:avLst/>
          </a:prstGeom>
          <a:noFill/>
          <a:ln/>
        </p:spPr>
        <p:txBody>
          <a:bodyPr wrap="square" lIns="0" tIns="0" rIns="0" bIns="0" rtlCol="0" anchor="ctr"/>
          <a:lstStyle/>
          <a:p>
            <a:pPr marL="0" indent="0">
              <a:buNone/>
            </a:pPr>
            <a:r>
              <a:rPr lang="en-US" sz="1100" dirty="0">
                <a:solidFill>
                  <a:srgbClr val="64748B"/>
                </a:solidFill>
              </a:rPr>
              <a:t>F1 Clase 0</a:t>
            </a:r>
            <a:endParaRPr lang="en-US" sz="1100" dirty="0"/>
          </a:p>
        </p:txBody>
      </p:sp>
      <p:sp>
        <p:nvSpPr>
          <p:cNvPr id="38" name="Text 35"/>
          <p:cNvSpPr/>
          <p:nvPr/>
        </p:nvSpPr>
        <p:spPr>
          <a:xfrm>
            <a:off x="7132320" y="2798064"/>
            <a:ext cx="1463040" cy="274320"/>
          </a:xfrm>
          <a:prstGeom prst="rect">
            <a:avLst/>
          </a:prstGeom>
          <a:noFill/>
          <a:ln/>
        </p:spPr>
        <p:txBody>
          <a:bodyPr wrap="square" lIns="0" tIns="0" rIns="0" bIns="0" rtlCol="0" anchor="ctr"/>
          <a:lstStyle/>
          <a:p>
            <a:pPr marL="0" indent="0" algn="r">
              <a:buNone/>
            </a:pPr>
            <a:r>
              <a:rPr lang="en-US" sz="1200" b="1" dirty="0">
                <a:solidFill>
                  <a:srgbClr val="777777"/>
                </a:solidFill>
              </a:rPr>
              <a:t>0.38</a:t>
            </a:r>
            <a:endParaRPr lang="en-US" sz="1200" dirty="0"/>
          </a:p>
        </p:txBody>
      </p:sp>
      <p:sp>
        <p:nvSpPr>
          <p:cNvPr id="39" name="Shape 36"/>
          <p:cNvSpPr/>
          <p:nvPr/>
        </p:nvSpPr>
        <p:spPr>
          <a:xfrm>
            <a:off x="4846320" y="3191256"/>
            <a:ext cx="3840480" cy="347472"/>
          </a:xfrm>
          <a:prstGeom prst="rect">
            <a:avLst/>
          </a:prstGeom>
          <a:solidFill>
            <a:srgbClr val="F5F5F5"/>
          </a:solidFill>
          <a:ln/>
        </p:spPr>
        <p:txBody>
          <a:bodyPr/>
          <a:lstStyle/>
          <a:p>
            <a:endParaRPr lang="es-CL"/>
          </a:p>
        </p:txBody>
      </p:sp>
      <p:sp>
        <p:nvSpPr>
          <p:cNvPr id="40" name="Text 37"/>
          <p:cNvSpPr/>
          <p:nvPr/>
        </p:nvSpPr>
        <p:spPr>
          <a:xfrm>
            <a:off x="4937760" y="3227832"/>
            <a:ext cx="2286000" cy="274320"/>
          </a:xfrm>
          <a:prstGeom prst="rect">
            <a:avLst/>
          </a:prstGeom>
          <a:noFill/>
          <a:ln/>
        </p:spPr>
        <p:txBody>
          <a:bodyPr wrap="square" lIns="0" tIns="0" rIns="0" bIns="0" rtlCol="0" anchor="ctr"/>
          <a:lstStyle/>
          <a:p>
            <a:pPr marL="0" indent="0">
              <a:buNone/>
            </a:pPr>
            <a:r>
              <a:rPr lang="en-US" sz="1100" dirty="0">
                <a:solidFill>
                  <a:srgbClr val="64748B"/>
                </a:solidFill>
              </a:rPr>
              <a:t>F1 Clase 1</a:t>
            </a:r>
            <a:endParaRPr lang="en-US" sz="1100" dirty="0"/>
          </a:p>
        </p:txBody>
      </p:sp>
      <p:sp>
        <p:nvSpPr>
          <p:cNvPr id="41" name="Text 38"/>
          <p:cNvSpPr/>
          <p:nvPr/>
        </p:nvSpPr>
        <p:spPr>
          <a:xfrm>
            <a:off x="7132320" y="3227832"/>
            <a:ext cx="1463040" cy="274320"/>
          </a:xfrm>
          <a:prstGeom prst="rect">
            <a:avLst/>
          </a:prstGeom>
          <a:noFill/>
          <a:ln/>
        </p:spPr>
        <p:txBody>
          <a:bodyPr wrap="square" lIns="0" tIns="0" rIns="0" bIns="0" rtlCol="0" anchor="ctr"/>
          <a:lstStyle/>
          <a:p>
            <a:pPr marL="0" indent="0" algn="r">
              <a:buNone/>
            </a:pPr>
            <a:r>
              <a:rPr lang="en-US" sz="1200" b="1" dirty="0">
                <a:solidFill>
                  <a:srgbClr val="777777"/>
                </a:solidFill>
              </a:rPr>
              <a:t>0.60</a:t>
            </a:r>
            <a:endParaRPr lang="en-US" sz="1200" dirty="0"/>
          </a:p>
        </p:txBody>
      </p:sp>
      <p:sp>
        <p:nvSpPr>
          <p:cNvPr id="42" name="Shape 39"/>
          <p:cNvSpPr/>
          <p:nvPr/>
        </p:nvSpPr>
        <p:spPr>
          <a:xfrm>
            <a:off x="4846320" y="3621024"/>
            <a:ext cx="3840480" cy="347472"/>
          </a:xfrm>
          <a:prstGeom prst="rect">
            <a:avLst/>
          </a:prstGeom>
          <a:solidFill>
            <a:srgbClr val="FFFFFF"/>
          </a:solidFill>
          <a:ln/>
        </p:spPr>
        <p:txBody>
          <a:bodyPr/>
          <a:lstStyle/>
          <a:p>
            <a:endParaRPr lang="es-CL"/>
          </a:p>
        </p:txBody>
      </p:sp>
      <p:sp>
        <p:nvSpPr>
          <p:cNvPr id="43" name="Text 40"/>
          <p:cNvSpPr/>
          <p:nvPr/>
        </p:nvSpPr>
        <p:spPr>
          <a:xfrm>
            <a:off x="4937760" y="3657600"/>
            <a:ext cx="2286000" cy="274320"/>
          </a:xfrm>
          <a:prstGeom prst="rect">
            <a:avLst/>
          </a:prstGeom>
          <a:noFill/>
          <a:ln/>
        </p:spPr>
        <p:txBody>
          <a:bodyPr wrap="square" lIns="0" tIns="0" rIns="0" bIns="0" rtlCol="0" anchor="ctr"/>
          <a:lstStyle/>
          <a:p>
            <a:pPr marL="0" indent="0">
              <a:buNone/>
            </a:pPr>
            <a:r>
              <a:rPr lang="en-US" sz="1100" dirty="0">
                <a:solidFill>
                  <a:srgbClr val="64748B"/>
                </a:solidFill>
              </a:rPr>
              <a:t>Falsos Pos.</a:t>
            </a:r>
            <a:endParaRPr lang="en-US" sz="1100" dirty="0"/>
          </a:p>
        </p:txBody>
      </p:sp>
      <p:sp>
        <p:nvSpPr>
          <p:cNvPr id="44" name="Text 41"/>
          <p:cNvSpPr/>
          <p:nvPr/>
        </p:nvSpPr>
        <p:spPr>
          <a:xfrm>
            <a:off x="7132320" y="3657600"/>
            <a:ext cx="1463040" cy="274320"/>
          </a:xfrm>
          <a:prstGeom prst="rect">
            <a:avLst/>
          </a:prstGeom>
          <a:noFill/>
          <a:ln/>
        </p:spPr>
        <p:txBody>
          <a:bodyPr wrap="square" lIns="0" tIns="0" rIns="0" bIns="0" rtlCol="0" anchor="ctr"/>
          <a:lstStyle/>
          <a:p>
            <a:pPr marL="0" indent="0" algn="r">
              <a:buNone/>
            </a:pPr>
            <a:r>
              <a:rPr lang="en-US" sz="1200" b="1" dirty="0">
                <a:solidFill>
                  <a:srgbClr val="777777"/>
                </a:solidFill>
              </a:rPr>
              <a:t>+1.000 ⚠</a:t>
            </a:r>
            <a:endParaRPr lang="en-US" sz="1200" dirty="0"/>
          </a:p>
        </p:txBody>
      </p:sp>
      <p:sp>
        <p:nvSpPr>
          <p:cNvPr id="45" name="Text 42"/>
          <p:cNvSpPr/>
          <p:nvPr/>
        </p:nvSpPr>
        <p:spPr>
          <a:xfrm>
            <a:off x="4846320" y="3822192"/>
            <a:ext cx="3840480" cy="256032"/>
          </a:xfrm>
          <a:prstGeom prst="rect">
            <a:avLst/>
          </a:prstGeom>
          <a:noFill/>
          <a:ln/>
        </p:spPr>
        <p:txBody>
          <a:bodyPr wrap="square" rtlCol="0" anchor="ctr"/>
          <a:lstStyle/>
          <a:p>
            <a:pPr marL="0" indent="0" algn="ctr">
              <a:buNone/>
            </a:pPr>
            <a:r>
              <a:rPr lang="en-US" sz="1000" b="1" dirty="0">
                <a:solidFill>
                  <a:srgbClr val="999999"/>
                </a:solidFill>
              </a:rPr>
              <a:t>✗ Solo como benchmark</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E2761"/>
          </a:solidFill>
          <a:ln/>
        </p:spPr>
        <p:txBody>
          <a:bodyPr/>
          <a:lstStyle/>
          <a:p>
            <a:endParaRPr lang="es-CL"/>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200" b="1" dirty="0">
                <a:solidFill>
                  <a:srgbClr val="FFFFFF"/>
                </a:solidFill>
              </a:rPr>
              <a:t>PARTE 1 · Dayana Vega  ·  Notebook 4: Modelado Supervisado</a:t>
            </a:r>
            <a:endParaRPr lang="en-US" sz="12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marL="0" indent="0">
              <a:buNone/>
            </a:pPr>
            <a:r>
              <a:rPr lang="en-US" sz="2600" b="1" dirty="0">
                <a:solidFill>
                  <a:srgbClr val="1A1A2E"/>
                </a:solidFill>
              </a:rPr>
              <a:t>Pipeline Completo del Proyecto</a:t>
            </a:r>
            <a:endParaRPr lang="en-US" sz="2600" dirty="0"/>
          </a:p>
        </p:txBody>
      </p:sp>
      <p:sp>
        <p:nvSpPr>
          <p:cNvPr id="5" name="Shape 3"/>
          <p:cNvSpPr/>
          <p:nvPr/>
        </p:nvSpPr>
        <p:spPr>
          <a:xfrm>
            <a:off x="365760" y="1170432"/>
            <a:ext cx="8412480" cy="27432"/>
          </a:xfrm>
          <a:prstGeom prst="rect">
            <a:avLst/>
          </a:prstGeom>
          <a:solidFill>
            <a:srgbClr val="CADCFC"/>
          </a:solidFill>
          <a:ln/>
        </p:spPr>
        <p:txBody>
          <a:bodyPr/>
          <a:lstStyle/>
          <a:p>
            <a:endParaRPr lang="es-CL"/>
          </a:p>
        </p:txBody>
      </p:sp>
      <p:sp>
        <p:nvSpPr>
          <p:cNvPr id="6" name="Shape 4"/>
          <p:cNvSpPr/>
          <p:nvPr/>
        </p:nvSpPr>
        <p:spPr>
          <a:xfrm>
            <a:off x="320040" y="1325880"/>
            <a:ext cx="1508760" cy="2286000"/>
          </a:xfrm>
          <a:prstGeom prst="rect">
            <a:avLst/>
          </a:prstGeom>
          <a:solidFill>
            <a:srgbClr val="1E2761"/>
          </a:solidFill>
          <a:ln/>
        </p:spPr>
        <p:txBody>
          <a:bodyPr/>
          <a:lstStyle/>
          <a:p>
            <a:endParaRPr lang="es-CL"/>
          </a:p>
        </p:txBody>
      </p:sp>
      <p:pic>
        <p:nvPicPr>
          <p:cNvPr id="7" name="Image 0" descr="preencoded.png"/>
          <p:cNvPicPr>
            <a:picLocks noChangeAspect="1"/>
          </p:cNvPicPr>
          <p:nvPr/>
        </p:nvPicPr>
        <p:blipFill>
          <a:blip r:embed="rId3"/>
          <a:stretch>
            <a:fillRect/>
          </a:stretch>
        </p:blipFill>
        <p:spPr>
          <a:xfrm>
            <a:off x="822960" y="1417320"/>
            <a:ext cx="502920" cy="502920"/>
          </a:xfrm>
          <a:prstGeom prst="rect">
            <a:avLst/>
          </a:prstGeom>
        </p:spPr>
      </p:pic>
      <p:sp>
        <p:nvSpPr>
          <p:cNvPr id="8" name="Text 5"/>
          <p:cNvSpPr/>
          <p:nvPr/>
        </p:nvSpPr>
        <p:spPr>
          <a:xfrm>
            <a:off x="320040" y="1993392"/>
            <a:ext cx="1508760" cy="320040"/>
          </a:xfrm>
          <a:prstGeom prst="rect">
            <a:avLst/>
          </a:prstGeom>
          <a:noFill/>
          <a:ln/>
        </p:spPr>
        <p:txBody>
          <a:bodyPr wrap="square" lIns="0" tIns="0" rIns="0" bIns="0" rtlCol="0" anchor="ctr"/>
          <a:lstStyle/>
          <a:p>
            <a:pPr marL="0" indent="0" algn="ctr">
              <a:buNone/>
            </a:pPr>
            <a:r>
              <a:rPr lang="en-US" sz="1300" b="1" dirty="0">
                <a:solidFill>
                  <a:srgbClr val="FFFFFF"/>
                </a:solidFill>
              </a:rPr>
              <a:t>Datos</a:t>
            </a:r>
            <a:endParaRPr lang="en-US" sz="1300" dirty="0"/>
          </a:p>
        </p:txBody>
      </p:sp>
      <p:sp>
        <p:nvSpPr>
          <p:cNvPr id="9" name="Text 6"/>
          <p:cNvSpPr/>
          <p:nvPr/>
        </p:nvSpPr>
        <p:spPr>
          <a:xfrm>
            <a:off x="365760" y="2359152"/>
            <a:ext cx="1417320" cy="1097280"/>
          </a:xfrm>
          <a:prstGeom prst="rect">
            <a:avLst/>
          </a:prstGeom>
          <a:noFill/>
          <a:ln/>
        </p:spPr>
        <p:txBody>
          <a:bodyPr wrap="square" lIns="0" tIns="0" rIns="0" bIns="0" rtlCol="0" anchor="ctr"/>
          <a:lstStyle/>
          <a:p>
            <a:pPr marL="0" indent="0" algn="ctr">
              <a:buNone/>
            </a:pPr>
            <a:r>
              <a:rPr lang="en-US" sz="950" dirty="0">
                <a:solidFill>
                  <a:srgbClr val="CADCFC"/>
                </a:solidFill>
              </a:rPr>
              <a:t>15.750 registros</a:t>
            </a:r>
            <a:endParaRPr lang="en-US" sz="950" dirty="0"/>
          </a:p>
          <a:p>
            <a:pPr marL="0" indent="0" algn="ctr">
              <a:buNone/>
            </a:pPr>
            <a:r>
              <a:rPr lang="en-US" sz="950" dirty="0">
                <a:solidFill>
                  <a:srgbClr val="CADCFC"/>
                </a:solidFill>
              </a:rPr>
              <a:t>21 variables</a:t>
            </a:r>
            <a:endParaRPr lang="en-US" sz="950" dirty="0"/>
          </a:p>
          <a:p>
            <a:pPr marL="0" indent="0" algn="ctr">
              <a:buNone/>
            </a:pPr>
            <a:r>
              <a:rPr lang="en-US" sz="950" dirty="0">
                <a:solidFill>
                  <a:srgbClr val="CADCFC"/>
                </a:solidFill>
              </a:rPr>
              <a:t>codificadas</a:t>
            </a:r>
            <a:endParaRPr lang="en-US" sz="950" dirty="0"/>
          </a:p>
        </p:txBody>
      </p:sp>
      <p:sp>
        <p:nvSpPr>
          <p:cNvPr id="10" name="Shape 7"/>
          <p:cNvSpPr/>
          <p:nvPr/>
        </p:nvSpPr>
        <p:spPr>
          <a:xfrm>
            <a:off x="1828800" y="2468880"/>
            <a:ext cx="210312" cy="0"/>
          </a:xfrm>
          <a:prstGeom prst="line">
            <a:avLst/>
          </a:prstGeom>
          <a:noFill/>
          <a:ln w="25400">
            <a:solidFill>
              <a:srgbClr val="4472C4"/>
            </a:solidFill>
            <a:prstDash val="solid"/>
          </a:ln>
        </p:spPr>
        <p:txBody>
          <a:bodyPr/>
          <a:lstStyle/>
          <a:p>
            <a:endParaRPr lang="es-CL"/>
          </a:p>
        </p:txBody>
      </p:sp>
      <p:sp>
        <p:nvSpPr>
          <p:cNvPr id="11" name="Text 8"/>
          <p:cNvSpPr/>
          <p:nvPr/>
        </p:nvSpPr>
        <p:spPr>
          <a:xfrm>
            <a:off x="1993392" y="2395728"/>
            <a:ext cx="182880" cy="201168"/>
          </a:xfrm>
          <a:prstGeom prst="rect">
            <a:avLst/>
          </a:prstGeom>
          <a:noFill/>
          <a:ln/>
        </p:spPr>
        <p:txBody>
          <a:bodyPr wrap="square" lIns="0" tIns="0" rIns="0" bIns="0" rtlCol="0" anchor="ctr"/>
          <a:lstStyle/>
          <a:p>
            <a:pPr marL="0" indent="0">
              <a:buNone/>
            </a:pPr>
            <a:r>
              <a:rPr lang="en-US" sz="1100" dirty="0">
                <a:solidFill>
                  <a:srgbClr val="4472C4"/>
                </a:solidFill>
              </a:rPr>
              <a:t>▶</a:t>
            </a:r>
            <a:endParaRPr lang="en-US" sz="1100" dirty="0"/>
          </a:p>
        </p:txBody>
      </p:sp>
      <p:sp>
        <p:nvSpPr>
          <p:cNvPr id="12" name="Shape 9"/>
          <p:cNvSpPr/>
          <p:nvPr/>
        </p:nvSpPr>
        <p:spPr>
          <a:xfrm>
            <a:off x="2039112" y="1325880"/>
            <a:ext cx="1508760" cy="2286000"/>
          </a:xfrm>
          <a:prstGeom prst="rect">
            <a:avLst/>
          </a:prstGeom>
          <a:solidFill>
            <a:srgbClr val="4472C4">
              <a:alpha val="20000"/>
            </a:srgbClr>
          </a:solidFill>
          <a:ln/>
        </p:spPr>
        <p:txBody>
          <a:bodyPr/>
          <a:lstStyle/>
          <a:p>
            <a:endParaRPr lang="es-CL"/>
          </a:p>
        </p:txBody>
      </p:sp>
      <p:pic>
        <p:nvPicPr>
          <p:cNvPr id="13" name="Image 1" descr="preencoded.png"/>
          <p:cNvPicPr>
            <a:picLocks noChangeAspect="1"/>
          </p:cNvPicPr>
          <p:nvPr/>
        </p:nvPicPr>
        <p:blipFill>
          <a:blip r:embed="rId4"/>
          <a:stretch>
            <a:fillRect/>
          </a:stretch>
        </p:blipFill>
        <p:spPr>
          <a:xfrm>
            <a:off x="2542032" y="1417320"/>
            <a:ext cx="502920" cy="502920"/>
          </a:xfrm>
          <a:prstGeom prst="rect">
            <a:avLst/>
          </a:prstGeom>
        </p:spPr>
      </p:pic>
      <p:sp>
        <p:nvSpPr>
          <p:cNvPr id="14" name="Text 10"/>
          <p:cNvSpPr/>
          <p:nvPr/>
        </p:nvSpPr>
        <p:spPr>
          <a:xfrm>
            <a:off x="2039112" y="1993392"/>
            <a:ext cx="1508760" cy="320040"/>
          </a:xfrm>
          <a:prstGeom prst="rect">
            <a:avLst/>
          </a:prstGeom>
          <a:noFill/>
          <a:ln/>
        </p:spPr>
        <p:txBody>
          <a:bodyPr wrap="square" lIns="0" tIns="0" rIns="0" bIns="0" rtlCol="0" anchor="ctr"/>
          <a:lstStyle/>
          <a:p>
            <a:pPr marL="0" indent="0" algn="ctr">
              <a:buNone/>
            </a:pPr>
            <a:r>
              <a:rPr lang="en-US" sz="1300" b="1" dirty="0">
                <a:solidFill>
                  <a:srgbClr val="1E2761"/>
                </a:solidFill>
              </a:rPr>
              <a:t>Clustering</a:t>
            </a:r>
            <a:endParaRPr lang="en-US" sz="1300" dirty="0"/>
          </a:p>
        </p:txBody>
      </p:sp>
      <p:sp>
        <p:nvSpPr>
          <p:cNvPr id="15" name="Text 11"/>
          <p:cNvSpPr/>
          <p:nvPr/>
        </p:nvSpPr>
        <p:spPr>
          <a:xfrm>
            <a:off x="2084832" y="2359152"/>
            <a:ext cx="1417320" cy="1097280"/>
          </a:xfrm>
          <a:prstGeom prst="rect">
            <a:avLst/>
          </a:prstGeom>
          <a:noFill/>
          <a:ln/>
        </p:spPr>
        <p:txBody>
          <a:bodyPr wrap="square" lIns="0" tIns="0" rIns="0" bIns="0" rtlCol="0" anchor="ctr"/>
          <a:lstStyle/>
          <a:p>
            <a:pPr marL="0" indent="0" algn="ctr">
              <a:buNone/>
            </a:pPr>
            <a:r>
              <a:rPr lang="en-US" sz="950" dirty="0">
                <a:solidFill>
                  <a:srgbClr val="64748B"/>
                </a:solidFill>
              </a:rPr>
              <a:t>K-Means K=3</a:t>
            </a:r>
            <a:endParaRPr lang="en-US" sz="950" dirty="0"/>
          </a:p>
          <a:p>
            <a:pPr marL="0" indent="0" algn="ctr">
              <a:buNone/>
            </a:pPr>
            <a:r>
              <a:rPr lang="en-US" sz="950" dirty="0">
                <a:solidFill>
                  <a:srgbClr val="64748B"/>
                </a:solidFill>
              </a:rPr>
              <a:t>Silhouette Score</a:t>
            </a:r>
            <a:endParaRPr lang="en-US" sz="950" dirty="0"/>
          </a:p>
          <a:p>
            <a:pPr marL="0" indent="0" algn="ctr">
              <a:buNone/>
            </a:pPr>
            <a:r>
              <a:rPr lang="en-US" sz="950" dirty="0">
                <a:solidFill>
                  <a:srgbClr val="64748B"/>
                </a:solidFill>
              </a:rPr>
              <a:t>PCA visualización</a:t>
            </a:r>
            <a:endParaRPr lang="en-US" sz="950" dirty="0"/>
          </a:p>
        </p:txBody>
      </p:sp>
      <p:sp>
        <p:nvSpPr>
          <p:cNvPr id="16" name="Shape 12"/>
          <p:cNvSpPr/>
          <p:nvPr/>
        </p:nvSpPr>
        <p:spPr>
          <a:xfrm>
            <a:off x="3547872" y="2468880"/>
            <a:ext cx="210312" cy="0"/>
          </a:xfrm>
          <a:prstGeom prst="line">
            <a:avLst/>
          </a:prstGeom>
          <a:noFill/>
          <a:ln w="25400">
            <a:solidFill>
              <a:srgbClr val="4472C4"/>
            </a:solidFill>
            <a:prstDash val="solid"/>
          </a:ln>
        </p:spPr>
        <p:txBody>
          <a:bodyPr/>
          <a:lstStyle/>
          <a:p>
            <a:endParaRPr lang="es-CL"/>
          </a:p>
        </p:txBody>
      </p:sp>
      <p:sp>
        <p:nvSpPr>
          <p:cNvPr id="17" name="Text 13"/>
          <p:cNvSpPr/>
          <p:nvPr/>
        </p:nvSpPr>
        <p:spPr>
          <a:xfrm>
            <a:off x="3712464" y="2395728"/>
            <a:ext cx="182880" cy="201168"/>
          </a:xfrm>
          <a:prstGeom prst="rect">
            <a:avLst/>
          </a:prstGeom>
          <a:noFill/>
          <a:ln/>
        </p:spPr>
        <p:txBody>
          <a:bodyPr wrap="square" lIns="0" tIns="0" rIns="0" bIns="0" rtlCol="0" anchor="ctr"/>
          <a:lstStyle/>
          <a:p>
            <a:pPr marL="0" indent="0">
              <a:buNone/>
            </a:pPr>
            <a:r>
              <a:rPr lang="en-US" sz="1100" dirty="0">
                <a:solidFill>
                  <a:srgbClr val="4472C4"/>
                </a:solidFill>
              </a:rPr>
              <a:t>▶</a:t>
            </a:r>
            <a:endParaRPr lang="en-US" sz="1100" dirty="0"/>
          </a:p>
        </p:txBody>
      </p:sp>
      <p:sp>
        <p:nvSpPr>
          <p:cNvPr id="18" name="Shape 14"/>
          <p:cNvSpPr/>
          <p:nvPr/>
        </p:nvSpPr>
        <p:spPr>
          <a:xfrm>
            <a:off x="3758184" y="1325880"/>
            <a:ext cx="1508760" cy="2286000"/>
          </a:xfrm>
          <a:prstGeom prst="rect">
            <a:avLst/>
          </a:prstGeom>
          <a:solidFill>
            <a:srgbClr val="4472C4">
              <a:alpha val="20000"/>
            </a:srgbClr>
          </a:solidFill>
          <a:ln/>
        </p:spPr>
        <p:txBody>
          <a:bodyPr/>
          <a:lstStyle/>
          <a:p>
            <a:endParaRPr lang="es-CL"/>
          </a:p>
        </p:txBody>
      </p:sp>
      <p:pic>
        <p:nvPicPr>
          <p:cNvPr id="19" name="Image 2" descr="preencoded.png"/>
          <p:cNvPicPr>
            <a:picLocks noChangeAspect="1"/>
          </p:cNvPicPr>
          <p:nvPr/>
        </p:nvPicPr>
        <p:blipFill>
          <a:blip r:embed="rId5"/>
          <a:stretch>
            <a:fillRect/>
          </a:stretch>
        </p:blipFill>
        <p:spPr>
          <a:xfrm>
            <a:off x="4261104" y="1417320"/>
            <a:ext cx="502920" cy="502920"/>
          </a:xfrm>
          <a:prstGeom prst="rect">
            <a:avLst/>
          </a:prstGeom>
        </p:spPr>
      </p:pic>
      <p:sp>
        <p:nvSpPr>
          <p:cNvPr id="20" name="Text 15"/>
          <p:cNvSpPr/>
          <p:nvPr/>
        </p:nvSpPr>
        <p:spPr>
          <a:xfrm>
            <a:off x="3758184" y="1993392"/>
            <a:ext cx="1508760" cy="320040"/>
          </a:xfrm>
          <a:prstGeom prst="rect">
            <a:avLst/>
          </a:prstGeom>
          <a:noFill/>
          <a:ln/>
        </p:spPr>
        <p:txBody>
          <a:bodyPr wrap="square" lIns="0" tIns="0" rIns="0" bIns="0" rtlCol="0" anchor="ctr"/>
          <a:lstStyle/>
          <a:p>
            <a:pPr marL="0" indent="0" algn="ctr">
              <a:buNone/>
            </a:pPr>
            <a:r>
              <a:rPr lang="en-US" sz="1300" b="1" dirty="0">
                <a:solidFill>
                  <a:srgbClr val="1E2761"/>
                </a:solidFill>
              </a:rPr>
              <a:t>RF Base</a:t>
            </a:r>
            <a:endParaRPr lang="en-US" sz="1300" dirty="0"/>
          </a:p>
        </p:txBody>
      </p:sp>
      <p:sp>
        <p:nvSpPr>
          <p:cNvPr id="21" name="Text 16"/>
          <p:cNvSpPr/>
          <p:nvPr/>
        </p:nvSpPr>
        <p:spPr>
          <a:xfrm>
            <a:off x="3803904" y="2359152"/>
            <a:ext cx="1417320" cy="1097280"/>
          </a:xfrm>
          <a:prstGeom prst="rect">
            <a:avLst/>
          </a:prstGeom>
          <a:noFill/>
          <a:ln/>
        </p:spPr>
        <p:txBody>
          <a:bodyPr wrap="square" lIns="0" tIns="0" rIns="0" bIns="0" rtlCol="0" anchor="ctr"/>
          <a:lstStyle/>
          <a:p>
            <a:pPr marL="0" indent="0" algn="ctr">
              <a:buNone/>
            </a:pPr>
            <a:r>
              <a:rPr lang="en-US" sz="950" dirty="0">
                <a:solidFill>
                  <a:srgbClr val="64748B"/>
                </a:solidFill>
              </a:rPr>
              <a:t>Pipeline sklearn</a:t>
            </a:r>
            <a:endParaRPr lang="en-US" sz="950" dirty="0"/>
          </a:p>
          <a:p>
            <a:pPr marL="0" indent="0" algn="ctr">
              <a:buNone/>
            </a:pPr>
            <a:r>
              <a:rPr lang="en-US" sz="950" dirty="0">
                <a:solidFill>
                  <a:srgbClr val="64748B"/>
                </a:solidFill>
              </a:rPr>
              <a:t>StandardScaler</a:t>
            </a:r>
            <a:endParaRPr lang="en-US" sz="950" dirty="0"/>
          </a:p>
          <a:p>
            <a:pPr marL="0" indent="0" algn="ctr">
              <a:buNone/>
            </a:pPr>
            <a:r>
              <a:rPr lang="en-US" sz="950" dirty="0">
                <a:solidFill>
                  <a:srgbClr val="64748B"/>
                </a:solidFill>
              </a:rPr>
              <a:t>ROC-AUC 0.626</a:t>
            </a:r>
            <a:endParaRPr lang="en-US" sz="950" dirty="0"/>
          </a:p>
        </p:txBody>
      </p:sp>
      <p:sp>
        <p:nvSpPr>
          <p:cNvPr id="22" name="Shape 17"/>
          <p:cNvSpPr/>
          <p:nvPr/>
        </p:nvSpPr>
        <p:spPr>
          <a:xfrm>
            <a:off x="5266944" y="2468880"/>
            <a:ext cx="210312" cy="0"/>
          </a:xfrm>
          <a:prstGeom prst="line">
            <a:avLst/>
          </a:prstGeom>
          <a:noFill/>
          <a:ln w="25400">
            <a:solidFill>
              <a:srgbClr val="4472C4"/>
            </a:solidFill>
            <a:prstDash val="solid"/>
          </a:ln>
        </p:spPr>
        <p:txBody>
          <a:bodyPr/>
          <a:lstStyle/>
          <a:p>
            <a:endParaRPr lang="es-CL"/>
          </a:p>
        </p:txBody>
      </p:sp>
      <p:sp>
        <p:nvSpPr>
          <p:cNvPr id="23" name="Text 18"/>
          <p:cNvSpPr/>
          <p:nvPr/>
        </p:nvSpPr>
        <p:spPr>
          <a:xfrm>
            <a:off x="5431536" y="2395728"/>
            <a:ext cx="182880" cy="201168"/>
          </a:xfrm>
          <a:prstGeom prst="rect">
            <a:avLst/>
          </a:prstGeom>
          <a:noFill/>
          <a:ln/>
        </p:spPr>
        <p:txBody>
          <a:bodyPr wrap="square" lIns="0" tIns="0" rIns="0" bIns="0" rtlCol="0" anchor="ctr"/>
          <a:lstStyle/>
          <a:p>
            <a:pPr marL="0" indent="0">
              <a:buNone/>
            </a:pPr>
            <a:r>
              <a:rPr lang="en-US" sz="1100" dirty="0">
                <a:solidFill>
                  <a:srgbClr val="4472C4"/>
                </a:solidFill>
              </a:rPr>
              <a:t>▶</a:t>
            </a:r>
            <a:endParaRPr lang="en-US" sz="1100" dirty="0"/>
          </a:p>
        </p:txBody>
      </p:sp>
      <p:sp>
        <p:nvSpPr>
          <p:cNvPr id="24" name="Shape 19"/>
          <p:cNvSpPr/>
          <p:nvPr/>
        </p:nvSpPr>
        <p:spPr>
          <a:xfrm>
            <a:off x="5477256" y="1325880"/>
            <a:ext cx="1508760" cy="2286000"/>
          </a:xfrm>
          <a:prstGeom prst="rect">
            <a:avLst/>
          </a:prstGeom>
          <a:solidFill>
            <a:srgbClr val="4472C4">
              <a:alpha val="20000"/>
            </a:srgbClr>
          </a:solidFill>
          <a:ln/>
        </p:spPr>
        <p:txBody>
          <a:bodyPr/>
          <a:lstStyle/>
          <a:p>
            <a:endParaRPr lang="es-CL"/>
          </a:p>
        </p:txBody>
      </p:sp>
      <p:pic>
        <p:nvPicPr>
          <p:cNvPr id="25" name="Image 3" descr="preencoded.png"/>
          <p:cNvPicPr>
            <a:picLocks noChangeAspect="1"/>
          </p:cNvPicPr>
          <p:nvPr/>
        </p:nvPicPr>
        <p:blipFill>
          <a:blip r:embed="rId6"/>
          <a:stretch>
            <a:fillRect/>
          </a:stretch>
        </p:blipFill>
        <p:spPr>
          <a:xfrm>
            <a:off x="5980176" y="1417320"/>
            <a:ext cx="502920" cy="502920"/>
          </a:xfrm>
          <a:prstGeom prst="rect">
            <a:avLst/>
          </a:prstGeom>
        </p:spPr>
      </p:pic>
      <p:sp>
        <p:nvSpPr>
          <p:cNvPr id="26" name="Text 20"/>
          <p:cNvSpPr/>
          <p:nvPr/>
        </p:nvSpPr>
        <p:spPr>
          <a:xfrm>
            <a:off x="5477256" y="1993392"/>
            <a:ext cx="1508760" cy="320040"/>
          </a:xfrm>
          <a:prstGeom prst="rect">
            <a:avLst/>
          </a:prstGeom>
          <a:noFill/>
          <a:ln/>
        </p:spPr>
        <p:txBody>
          <a:bodyPr wrap="square" lIns="0" tIns="0" rIns="0" bIns="0" rtlCol="0" anchor="ctr"/>
          <a:lstStyle/>
          <a:p>
            <a:pPr marL="0" indent="0" algn="ctr">
              <a:buNone/>
            </a:pPr>
            <a:r>
              <a:rPr lang="en-US" sz="1300" b="1" dirty="0">
                <a:solidFill>
                  <a:srgbClr val="1E2761"/>
                </a:solidFill>
              </a:rPr>
              <a:t>Optim.</a:t>
            </a:r>
            <a:endParaRPr lang="en-US" sz="1300" dirty="0"/>
          </a:p>
        </p:txBody>
      </p:sp>
      <p:sp>
        <p:nvSpPr>
          <p:cNvPr id="27" name="Text 21"/>
          <p:cNvSpPr/>
          <p:nvPr/>
        </p:nvSpPr>
        <p:spPr>
          <a:xfrm>
            <a:off x="5522976" y="2359152"/>
            <a:ext cx="1417320" cy="1097280"/>
          </a:xfrm>
          <a:prstGeom prst="rect">
            <a:avLst/>
          </a:prstGeom>
          <a:noFill/>
          <a:ln/>
        </p:spPr>
        <p:txBody>
          <a:bodyPr wrap="square" lIns="0" tIns="0" rIns="0" bIns="0" rtlCol="0" anchor="ctr"/>
          <a:lstStyle/>
          <a:p>
            <a:pPr marL="0" indent="0" algn="ctr">
              <a:buNone/>
            </a:pPr>
            <a:r>
              <a:rPr lang="en-US" sz="950" dirty="0">
                <a:solidFill>
                  <a:srgbClr val="64748B"/>
                </a:solidFill>
              </a:rPr>
              <a:t>4 versiones</a:t>
            </a:r>
            <a:endParaRPr lang="en-US" sz="950" dirty="0"/>
          </a:p>
          <a:p>
            <a:pPr marL="0" indent="0" algn="ctr">
              <a:buNone/>
            </a:pPr>
            <a:r>
              <a:rPr lang="en-US" sz="950" dirty="0">
                <a:solidFill>
                  <a:srgbClr val="64748B"/>
                </a:solidFill>
              </a:rPr>
              <a:t>GridSearch +</a:t>
            </a:r>
            <a:endParaRPr lang="en-US" sz="950" dirty="0"/>
          </a:p>
          <a:p>
            <a:pPr marL="0" indent="0" algn="ctr">
              <a:buNone/>
            </a:pPr>
            <a:r>
              <a:rPr lang="en-US" sz="950" dirty="0">
                <a:solidFill>
                  <a:srgbClr val="64748B"/>
                </a:solidFill>
              </a:rPr>
              <a:t>RandomizedSearch</a:t>
            </a:r>
            <a:endParaRPr lang="en-US" sz="950" dirty="0"/>
          </a:p>
        </p:txBody>
      </p:sp>
      <p:sp>
        <p:nvSpPr>
          <p:cNvPr id="28" name="Shape 22"/>
          <p:cNvSpPr/>
          <p:nvPr/>
        </p:nvSpPr>
        <p:spPr>
          <a:xfrm>
            <a:off x="6986016" y="2468880"/>
            <a:ext cx="210312" cy="0"/>
          </a:xfrm>
          <a:prstGeom prst="line">
            <a:avLst/>
          </a:prstGeom>
          <a:noFill/>
          <a:ln w="25400">
            <a:solidFill>
              <a:srgbClr val="4472C4"/>
            </a:solidFill>
            <a:prstDash val="solid"/>
          </a:ln>
        </p:spPr>
        <p:txBody>
          <a:bodyPr/>
          <a:lstStyle/>
          <a:p>
            <a:endParaRPr lang="es-CL"/>
          </a:p>
        </p:txBody>
      </p:sp>
      <p:sp>
        <p:nvSpPr>
          <p:cNvPr id="29" name="Text 23"/>
          <p:cNvSpPr/>
          <p:nvPr/>
        </p:nvSpPr>
        <p:spPr>
          <a:xfrm>
            <a:off x="7150608" y="2395728"/>
            <a:ext cx="182880" cy="201168"/>
          </a:xfrm>
          <a:prstGeom prst="rect">
            <a:avLst/>
          </a:prstGeom>
          <a:noFill/>
          <a:ln/>
        </p:spPr>
        <p:txBody>
          <a:bodyPr wrap="square" lIns="0" tIns="0" rIns="0" bIns="0" rtlCol="0" anchor="ctr"/>
          <a:lstStyle/>
          <a:p>
            <a:pPr marL="0" indent="0">
              <a:buNone/>
            </a:pPr>
            <a:r>
              <a:rPr lang="en-US" sz="1100" dirty="0">
                <a:solidFill>
                  <a:srgbClr val="4472C4"/>
                </a:solidFill>
              </a:rPr>
              <a:t>▶</a:t>
            </a:r>
            <a:endParaRPr lang="en-US" sz="1100" dirty="0"/>
          </a:p>
        </p:txBody>
      </p:sp>
      <p:sp>
        <p:nvSpPr>
          <p:cNvPr id="30" name="Shape 24"/>
          <p:cNvSpPr/>
          <p:nvPr/>
        </p:nvSpPr>
        <p:spPr>
          <a:xfrm>
            <a:off x="7196328" y="1325880"/>
            <a:ext cx="1508760" cy="2286000"/>
          </a:xfrm>
          <a:prstGeom prst="rect">
            <a:avLst/>
          </a:prstGeom>
          <a:solidFill>
            <a:srgbClr val="1E2761"/>
          </a:solidFill>
          <a:ln/>
        </p:spPr>
        <p:txBody>
          <a:bodyPr/>
          <a:lstStyle/>
          <a:p>
            <a:endParaRPr lang="es-CL"/>
          </a:p>
        </p:txBody>
      </p:sp>
      <p:pic>
        <p:nvPicPr>
          <p:cNvPr id="31" name="Image 4" descr="preencoded.png"/>
          <p:cNvPicPr>
            <a:picLocks noChangeAspect="1"/>
          </p:cNvPicPr>
          <p:nvPr/>
        </p:nvPicPr>
        <p:blipFill>
          <a:blip r:embed="rId7"/>
          <a:stretch>
            <a:fillRect/>
          </a:stretch>
        </p:blipFill>
        <p:spPr>
          <a:xfrm>
            <a:off x="7699248" y="1417320"/>
            <a:ext cx="502920" cy="502920"/>
          </a:xfrm>
          <a:prstGeom prst="rect">
            <a:avLst/>
          </a:prstGeom>
        </p:spPr>
      </p:pic>
      <p:sp>
        <p:nvSpPr>
          <p:cNvPr id="32" name="Text 25"/>
          <p:cNvSpPr/>
          <p:nvPr/>
        </p:nvSpPr>
        <p:spPr>
          <a:xfrm>
            <a:off x="7196328" y="1993392"/>
            <a:ext cx="1508760" cy="320040"/>
          </a:xfrm>
          <a:prstGeom prst="rect">
            <a:avLst/>
          </a:prstGeom>
          <a:noFill/>
          <a:ln/>
        </p:spPr>
        <p:txBody>
          <a:bodyPr wrap="square" lIns="0" tIns="0" rIns="0" bIns="0" rtlCol="0" anchor="ctr"/>
          <a:lstStyle/>
          <a:p>
            <a:pPr marL="0" indent="0" algn="ctr">
              <a:buNone/>
            </a:pPr>
            <a:r>
              <a:rPr lang="en-US" sz="1300" b="1" dirty="0">
                <a:solidFill>
                  <a:srgbClr val="FFFFFF"/>
                </a:solidFill>
              </a:rPr>
              <a:t>Umbral</a:t>
            </a:r>
            <a:endParaRPr lang="en-US" sz="1300" dirty="0"/>
          </a:p>
        </p:txBody>
      </p:sp>
      <p:sp>
        <p:nvSpPr>
          <p:cNvPr id="33" name="Text 26"/>
          <p:cNvSpPr/>
          <p:nvPr/>
        </p:nvSpPr>
        <p:spPr>
          <a:xfrm>
            <a:off x="7242048" y="2359152"/>
            <a:ext cx="1417320" cy="1097280"/>
          </a:xfrm>
          <a:prstGeom prst="rect">
            <a:avLst/>
          </a:prstGeom>
          <a:noFill/>
          <a:ln/>
        </p:spPr>
        <p:txBody>
          <a:bodyPr wrap="square" lIns="0" tIns="0" rIns="0" bIns="0" rtlCol="0" anchor="ctr"/>
          <a:lstStyle/>
          <a:p>
            <a:pPr marL="0" indent="0" algn="ctr">
              <a:buNone/>
            </a:pPr>
            <a:r>
              <a:rPr lang="en-US" sz="950" dirty="0">
                <a:solidFill>
                  <a:srgbClr val="CADCFC"/>
                </a:solidFill>
              </a:rPr>
              <a:t>Threshold 0.3378</a:t>
            </a:r>
            <a:endParaRPr lang="en-US" sz="950" dirty="0"/>
          </a:p>
          <a:p>
            <a:pPr marL="0" indent="0" algn="ctr">
              <a:buNone/>
            </a:pPr>
            <a:r>
              <a:rPr lang="en-US" sz="950" dirty="0">
                <a:solidFill>
                  <a:srgbClr val="CADCFC"/>
                </a:solidFill>
              </a:rPr>
              <a:t>Recall 98.38%</a:t>
            </a:r>
            <a:endParaRPr lang="en-US" sz="950" dirty="0"/>
          </a:p>
          <a:p>
            <a:pPr marL="0" indent="0" algn="ctr">
              <a:buNone/>
            </a:pPr>
            <a:r>
              <a:rPr lang="en-US" sz="950" dirty="0">
                <a:solidFill>
                  <a:srgbClr val="CADCFC"/>
                </a:solidFill>
              </a:rPr>
              <a:t>Despliegue CRM</a:t>
            </a:r>
            <a:endParaRPr lang="en-US" sz="950" dirty="0"/>
          </a:p>
        </p:txBody>
      </p:sp>
      <p:sp>
        <p:nvSpPr>
          <p:cNvPr id="34" name="Shape 27"/>
          <p:cNvSpPr/>
          <p:nvPr/>
        </p:nvSpPr>
        <p:spPr>
          <a:xfrm>
            <a:off x="365760" y="3767328"/>
            <a:ext cx="8412480" cy="548640"/>
          </a:xfrm>
          <a:prstGeom prst="rect">
            <a:avLst/>
          </a:prstGeom>
          <a:solidFill>
            <a:srgbClr val="F4F6FA"/>
          </a:solidFill>
          <a:ln/>
        </p:spPr>
        <p:txBody>
          <a:bodyPr/>
          <a:lstStyle/>
          <a:p>
            <a:endParaRPr lang="es-CL"/>
          </a:p>
        </p:txBody>
      </p:sp>
      <p:sp>
        <p:nvSpPr>
          <p:cNvPr id="35" name="Text 28"/>
          <p:cNvSpPr/>
          <p:nvPr/>
        </p:nvSpPr>
        <p:spPr>
          <a:xfrm>
            <a:off x="502920" y="3813048"/>
            <a:ext cx="8138160" cy="457200"/>
          </a:xfrm>
          <a:prstGeom prst="rect">
            <a:avLst/>
          </a:prstGeom>
          <a:noFill/>
          <a:ln/>
        </p:spPr>
        <p:txBody>
          <a:bodyPr wrap="square" rtlCol="0" anchor="ctr"/>
          <a:lstStyle/>
          <a:p>
            <a:pPr marL="0" indent="0" algn="ctr">
              <a:buNone/>
            </a:pPr>
            <a:r>
              <a:rPr lang="en-US" sz="1100" dirty="0">
                <a:solidFill>
                  <a:srgbClr val="64748B"/>
                </a:solidFill>
              </a:rPr>
              <a:t>Reproducibilidad garantizada: random_state=42 en todos los experimentos · Partición estratificada · 5-fold cross-validation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4731"/>
          </a:solidFill>
          <a:ln/>
        </p:spPr>
        <p:txBody>
          <a:bodyPr/>
          <a:lstStyle/>
          <a:p>
            <a:endParaRPr lang="es-CL"/>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200" b="1" dirty="0">
                <a:solidFill>
                  <a:srgbClr val="FFFFFF"/>
                </a:solidFill>
              </a:rPr>
              <a:t>PARTE 2 · Stanley Joseph  ·  Notebook 5: Evaluación de Modelos</a:t>
            </a:r>
            <a:endParaRPr lang="en-US" sz="12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marL="0" indent="0">
              <a:buNone/>
            </a:pPr>
            <a:r>
              <a:rPr lang="en-US" sz="2600" b="1" dirty="0">
                <a:solidFill>
                  <a:srgbClr val="1A1A2E"/>
                </a:solidFill>
              </a:rPr>
              <a:t>Evaluación Técnica: Métricas y Comparación</a:t>
            </a:r>
            <a:endParaRPr lang="en-US" sz="2600" dirty="0"/>
          </a:p>
        </p:txBody>
      </p:sp>
      <p:sp>
        <p:nvSpPr>
          <p:cNvPr id="5" name="Shape 3"/>
          <p:cNvSpPr/>
          <p:nvPr/>
        </p:nvSpPr>
        <p:spPr>
          <a:xfrm>
            <a:off x="365760" y="1170432"/>
            <a:ext cx="8412480" cy="27432"/>
          </a:xfrm>
          <a:prstGeom prst="rect">
            <a:avLst/>
          </a:prstGeom>
          <a:solidFill>
            <a:srgbClr val="D5EAD8"/>
          </a:solidFill>
          <a:ln/>
        </p:spPr>
        <p:txBody>
          <a:bodyPr/>
          <a:lstStyle/>
          <a:p>
            <a:endParaRPr lang="es-CL"/>
          </a:p>
        </p:txBody>
      </p:sp>
      <p:sp>
        <p:nvSpPr>
          <p:cNvPr id="6" name="Shape 4"/>
          <p:cNvSpPr/>
          <p:nvPr/>
        </p:nvSpPr>
        <p:spPr>
          <a:xfrm>
            <a:off x="365760" y="1325880"/>
            <a:ext cx="1920240" cy="1280160"/>
          </a:xfrm>
          <a:prstGeom prst="rect">
            <a:avLst/>
          </a:prstGeom>
          <a:solidFill>
            <a:srgbClr val="1A4731"/>
          </a:solidFill>
          <a:ln/>
          <a:effectLst>
            <a:outerShdw blurRad="76200" dist="25400" dir="8100000" algn="bl" rotWithShape="0">
              <a:srgbClr val="000000">
                <a:alpha val="12000"/>
              </a:srgbClr>
            </a:outerShdw>
          </a:effectLst>
        </p:spPr>
        <p:txBody>
          <a:bodyPr/>
          <a:lstStyle/>
          <a:p>
            <a:endParaRPr lang="es-CL"/>
          </a:p>
        </p:txBody>
      </p:sp>
      <p:sp>
        <p:nvSpPr>
          <p:cNvPr id="7" name="Text 5"/>
          <p:cNvSpPr/>
          <p:nvPr/>
        </p:nvSpPr>
        <p:spPr>
          <a:xfrm>
            <a:off x="365760" y="1399032"/>
            <a:ext cx="1920240" cy="704088"/>
          </a:xfrm>
          <a:prstGeom prst="rect">
            <a:avLst/>
          </a:prstGeom>
          <a:noFill/>
          <a:ln/>
        </p:spPr>
        <p:txBody>
          <a:bodyPr wrap="square" lIns="0" tIns="0" rIns="0" bIns="0" rtlCol="0" anchor="b"/>
          <a:lstStyle/>
          <a:p>
            <a:pPr marL="0" indent="0" algn="ctr">
              <a:buNone/>
            </a:pPr>
            <a:r>
              <a:rPr lang="en-US" sz="2800" b="1" dirty="0">
                <a:solidFill>
                  <a:srgbClr val="FFFFFF"/>
                </a:solidFill>
              </a:rPr>
              <a:t>0.6262</a:t>
            </a:r>
            <a:endParaRPr lang="en-US" sz="2800" dirty="0"/>
          </a:p>
        </p:txBody>
      </p:sp>
      <p:sp>
        <p:nvSpPr>
          <p:cNvPr id="8" name="Text 6"/>
          <p:cNvSpPr/>
          <p:nvPr/>
        </p:nvSpPr>
        <p:spPr>
          <a:xfrm>
            <a:off x="365760" y="2068373"/>
            <a:ext cx="1920240" cy="486461"/>
          </a:xfrm>
          <a:prstGeom prst="rect">
            <a:avLst/>
          </a:prstGeom>
          <a:noFill/>
          <a:ln/>
        </p:spPr>
        <p:txBody>
          <a:bodyPr wrap="square" lIns="0" tIns="0" rIns="0" bIns="0" rtlCol="0" anchor="t"/>
          <a:lstStyle/>
          <a:p>
            <a:pPr marL="0" indent="0" algn="ctr">
              <a:buNone/>
            </a:pPr>
            <a:r>
              <a:rPr lang="en-US" sz="1100" dirty="0">
                <a:solidFill>
                  <a:srgbClr val="FFFFFF"/>
                </a:solidFill>
              </a:rPr>
              <a:t>ROC-AUC</a:t>
            </a:r>
            <a:endParaRPr lang="en-US" sz="1100" dirty="0"/>
          </a:p>
          <a:p>
            <a:pPr marL="0" indent="0" algn="ctr">
              <a:buNone/>
            </a:pPr>
            <a:r>
              <a:rPr lang="en-US" sz="1100" dirty="0">
                <a:solidFill>
                  <a:srgbClr val="FFFFFF"/>
                </a:solidFill>
              </a:rPr>
              <a:t>Random Forest</a:t>
            </a:r>
            <a:endParaRPr lang="en-US" sz="1100" dirty="0"/>
          </a:p>
        </p:txBody>
      </p:sp>
      <p:sp>
        <p:nvSpPr>
          <p:cNvPr id="9" name="Shape 7"/>
          <p:cNvSpPr/>
          <p:nvPr/>
        </p:nvSpPr>
        <p:spPr>
          <a:xfrm>
            <a:off x="2514600" y="1325880"/>
            <a:ext cx="1920240" cy="1280160"/>
          </a:xfrm>
          <a:prstGeom prst="rect">
            <a:avLst/>
          </a:prstGeom>
          <a:solidFill>
            <a:srgbClr val="9B9B9B"/>
          </a:solidFill>
          <a:ln/>
          <a:effectLst>
            <a:outerShdw blurRad="76200" dist="25400" dir="8100000" algn="bl" rotWithShape="0">
              <a:srgbClr val="000000">
                <a:alpha val="12000"/>
              </a:srgbClr>
            </a:outerShdw>
          </a:effectLst>
        </p:spPr>
        <p:txBody>
          <a:bodyPr/>
          <a:lstStyle/>
          <a:p>
            <a:endParaRPr lang="es-CL"/>
          </a:p>
        </p:txBody>
      </p:sp>
      <p:sp>
        <p:nvSpPr>
          <p:cNvPr id="10" name="Text 8"/>
          <p:cNvSpPr/>
          <p:nvPr/>
        </p:nvSpPr>
        <p:spPr>
          <a:xfrm>
            <a:off x="2514600" y="1399032"/>
            <a:ext cx="1920240" cy="704088"/>
          </a:xfrm>
          <a:prstGeom prst="rect">
            <a:avLst/>
          </a:prstGeom>
          <a:noFill/>
          <a:ln/>
        </p:spPr>
        <p:txBody>
          <a:bodyPr wrap="square" lIns="0" tIns="0" rIns="0" bIns="0" rtlCol="0" anchor="b"/>
          <a:lstStyle/>
          <a:p>
            <a:pPr marL="0" indent="0" algn="ctr">
              <a:buNone/>
            </a:pPr>
            <a:r>
              <a:rPr lang="en-US" sz="2800" b="1" dirty="0">
                <a:solidFill>
                  <a:srgbClr val="FFFFFF"/>
                </a:solidFill>
              </a:rPr>
              <a:t>0.5058</a:t>
            </a:r>
            <a:endParaRPr lang="en-US" sz="2800" dirty="0"/>
          </a:p>
        </p:txBody>
      </p:sp>
      <p:sp>
        <p:nvSpPr>
          <p:cNvPr id="11" name="Text 9"/>
          <p:cNvSpPr/>
          <p:nvPr/>
        </p:nvSpPr>
        <p:spPr>
          <a:xfrm>
            <a:off x="2514600" y="2068373"/>
            <a:ext cx="1920240" cy="486461"/>
          </a:xfrm>
          <a:prstGeom prst="rect">
            <a:avLst/>
          </a:prstGeom>
          <a:noFill/>
          <a:ln/>
        </p:spPr>
        <p:txBody>
          <a:bodyPr wrap="square" lIns="0" tIns="0" rIns="0" bIns="0" rtlCol="0" anchor="t"/>
          <a:lstStyle/>
          <a:p>
            <a:pPr marL="0" indent="0" algn="ctr">
              <a:buNone/>
            </a:pPr>
            <a:r>
              <a:rPr lang="en-US" sz="1100" dirty="0">
                <a:solidFill>
                  <a:srgbClr val="FFFFFF"/>
                </a:solidFill>
              </a:rPr>
              <a:t>ROC-AUC</a:t>
            </a:r>
            <a:endParaRPr lang="en-US" sz="1100" dirty="0"/>
          </a:p>
          <a:p>
            <a:pPr marL="0" indent="0" algn="ctr">
              <a:buNone/>
            </a:pPr>
            <a:r>
              <a:rPr lang="en-US" sz="1100" dirty="0">
                <a:solidFill>
                  <a:srgbClr val="FFFFFF"/>
                </a:solidFill>
              </a:rPr>
              <a:t>Reg. Logística</a:t>
            </a:r>
            <a:endParaRPr lang="en-US" sz="1100" dirty="0"/>
          </a:p>
        </p:txBody>
      </p:sp>
      <p:sp>
        <p:nvSpPr>
          <p:cNvPr id="12" name="Shape 10"/>
          <p:cNvSpPr/>
          <p:nvPr/>
        </p:nvSpPr>
        <p:spPr>
          <a:xfrm>
            <a:off x="4663440" y="1325880"/>
            <a:ext cx="1920240" cy="1280160"/>
          </a:xfrm>
          <a:prstGeom prst="rect">
            <a:avLst/>
          </a:prstGeom>
          <a:solidFill>
            <a:srgbClr val="2E7D52"/>
          </a:solidFill>
          <a:ln/>
          <a:effectLst>
            <a:outerShdw blurRad="76200" dist="25400" dir="8100000" algn="bl" rotWithShape="0">
              <a:srgbClr val="000000">
                <a:alpha val="12000"/>
              </a:srgbClr>
            </a:outerShdw>
          </a:effectLst>
        </p:spPr>
        <p:txBody>
          <a:bodyPr/>
          <a:lstStyle/>
          <a:p>
            <a:endParaRPr lang="es-CL"/>
          </a:p>
        </p:txBody>
      </p:sp>
      <p:sp>
        <p:nvSpPr>
          <p:cNvPr id="13" name="Text 11"/>
          <p:cNvSpPr/>
          <p:nvPr/>
        </p:nvSpPr>
        <p:spPr>
          <a:xfrm>
            <a:off x="4663440" y="1399032"/>
            <a:ext cx="1920240" cy="704088"/>
          </a:xfrm>
          <a:prstGeom prst="rect">
            <a:avLst/>
          </a:prstGeom>
          <a:noFill/>
          <a:ln/>
        </p:spPr>
        <p:txBody>
          <a:bodyPr wrap="square" lIns="0" tIns="0" rIns="0" bIns="0" rtlCol="0" anchor="b"/>
          <a:lstStyle/>
          <a:p>
            <a:pPr marL="0" indent="0" algn="ctr">
              <a:buNone/>
            </a:pPr>
            <a:r>
              <a:rPr lang="en-US" sz="2800" b="1" dirty="0">
                <a:solidFill>
                  <a:srgbClr val="FFFFFF"/>
                </a:solidFill>
              </a:rPr>
              <a:t>0.0069</a:t>
            </a:r>
            <a:endParaRPr lang="en-US" sz="2800" dirty="0"/>
          </a:p>
        </p:txBody>
      </p:sp>
      <p:sp>
        <p:nvSpPr>
          <p:cNvPr id="14" name="Text 12"/>
          <p:cNvSpPr/>
          <p:nvPr/>
        </p:nvSpPr>
        <p:spPr>
          <a:xfrm>
            <a:off x="4663440" y="2068373"/>
            <a:ext cx="1920240" cy="486461"/>
          </a:xfrm>
          <a:prstGeom prst="rect">
            <a:avLst/>
          </a:prstGeom>
          <a:noFill/>
          <a:ln/>
        </p:spPr>
        <p:txBody>
          <a:bodyPr wrap="square" lIns="0" tIns="0" rIns="0" bIns="0" rtlCol="0" anchor="t"/>
          <a:lstStyle/>
          <a:p>
            <a:pPr marL="0" indent="0" algn="ctr">
              <a:buNone/>
            </a:pPr>
            <a:r>
              <a:rPr lang="en-US" sz="1100" dirty="0">
                <a:solidFill>
                  <a:srgbClr val="FFFFFF"/>
                </a:solidFill>
              </a:rPr>
              <a:t>Desv. Est. CV</a:t>
            </a:r>
            <a:endParaRPr lang="en-US" sz="1100" dirty="0"/>
          </a:p>
          <a:p>
            <a:pPr marL="0" indent="0" algn="ctr">
              <a:buNone/>
            </a:pPr>
            <a:r>
              <a:rPr lang="en-US" sz="1100" dirty="0">
                <a:solidFill>
                  <a:srgbClr val="FFFFFF"/>
                </a:solidFill>
              </a:rPr>
              <a:t>(alta estabilidad RF)</a:t>
            </a:r>
            <a:endParaRPr lang="en-US" sz="1100" dirty="0"/>
          </a:p>
        </p:txBody>
      </p:sp>
      <p:sp>
        <p:nvSpPr>
          <p:cNvPr id="15" name="Shape 13"/>
          <p:cNvSpPr/>
          <p:nvPr/>
        </p:nvSpPr>
        <p:spPr>
          <a:xfrm>
            <a:off x="6812280" y="1325880"/>
            <a:ext cx="1920240" cy="1280160"/>
          </a:xfrm>
          <a:prstGeom prst="rect">
            <a:avLst/>
          </a:prstGeom>
          <a:solidFill>
            <a:srgbClr val="C0392B"/>
          </a:solidFill>
          <a:ln/>
          <a:effectLst>
            <a:outerShdw blurRad="76200" dist="25400" dir="8100000" algn="bl" rotWithShape="0">
              <a:srgbClr val="000000">
                <a:alpha val="12000"/>
              </a:srgbClr>
            </a:outerShdw>
          </a:effectLst>
        </p:spPr>
        <p:txBody>
          <a:bodyPr/>
          <a:lstStyle/>
          <a:p>
            <a:endParaRPr lang="es-CL"/>
          </a:p>
        </p:txBody>
      </p:sp>
      <p:sp>
        <p:nvSpPr>
          <p:cNvPr id="16" name="Text 14"/>
          <p:cNvSpPr/>
          <p:nvPr/>
        </p:nvSpPr>
        <p:spPr>
          <a:xfrm>
            <a:off x="6812280" y="1399032"/>
            <a:ext cx="1920240" cy="704088"/>
          </a:xfrm>
          <a:prstGeom prst="rect">
            <a:avLst/>
          </a:prstGeom>
          <a:noFill/>
          <a:ln/>
        </p:spPr>
        <p:txBody>
          <a:bodyPr wrap="square" lIns="0" tIns="0" rIns="0" bIns="0" rtlCol="0" anchor="b"/>
          <a:lstStyle/>
          <a:p>
            <a:pPr marL="0" indent="0" algn="ctr">
              <a:buNone/>
            </a:pPr>
            <a:r>
              <a:rPr lang="en-US" sz="2800" b="1" dirty="0">
                <a:solidFill>
                  <a:srgbClr val="FFFFFF"/>
                </a:solidFill>
              </a:rPr>
              <a:t>646</a:t>
            </a:r>
            <a:endParaRPr lang="en-US" sz="2800" dirty="0"/>
          </a:p>
        </p:txBody>
      </p:sp>
      <p:sp>
        <p:nvSpPr>
          <p:cNvPr id="17" name="Text 15"/>
          <p:cNvSpPr/>
          <p:nvPr/>
        </p:nvSpPr>
        <p:spPr>
          <a:xfrm>
            <a:off x="6812280" y="2068373"/>
            <a:ext cx="1920240" cy="486461"/>
          </a:xfrm>
          <a:prstGeom prst="rect">
            <a:avLst/>
          </a:prstGeom>
          <a:noFill/>
          <a:ln/>
        </p:spPr>
        <p:txBody>
          <a:bodyPr wrap="square" lIns="0" tIns="0" rIns="0" bIns="0" rtlCol="0" anchor="t"/>
          <a:lstStyle/>
          <a:p>
            <a:pPr marL="0" indent="0" algn="ctr">
              <a:buNone/>
            </a:pPr>
            <a:r>
              <a:rPr lang="en-US" sz="1100" dirty="0">
                <a:solidFill>
                  <a:srgbClr val="FFFFFF"/>
                </a:solidFill>
              </a:rPr>
              <a:t>Falsos Negativos</a:t>
            </a:r>
            <a:endParaRPr lang="en-US" sz="1100" dirty="0"/>
          </a:p>
          <a:p>
            <a:pPr marL="0" indent="0" algn="ctr">
              <a:buNone/>
            </a:pPr>
            <a:r>
              <a:rPr lang="en-US" sz="1100" dirty="0">
                <a:solidFill>
                  <a:srgbClr val="FFFFFF"/>
                </a:solidFill>
              </a:rPr>
              <a:t>baseline RF</a:t>
            </a:r>
            <a:endParaRPr lang="en-US" sz="1100" dirty="0"/>
          </a:p>
        </p:txBody>
      </p:sp>
      <p:sp>
        <p:nvSpPr>
          <p:cNvPr id="18" name="Text 16"/>
          <p:cNvSpPr/>
          <p:nvPr/>
        </p:nvSpPr>
        <p:spPr>
          <a:xfrm>
            <a:off x="365760" y="2788920"/>
            <a:ext cx="8412480" cy="274320"/>
          </a:xfrm>
          <a:prstGeom prst="rect">
            <a:avLst/>
          </a:prstGeom>
          <a:noFill/>
          <a:ln/>
        </p:spPr>
        <p:txBody>
          <a:bodyPr wrap="square" rtlCol="0" anchor="ctr"/>
          <a:lstStyle/>
          <a:p>
            <a:pPr marL="0" indent="0">
              <a:buNone/>
            </a:pPr>
            <a:r>
              <a:rPr lang="en-US" sz="1400" b="1" dirty="0">
                <a:solidFill>
                  <a:srgbClr val="1A4731"/>
                </a:solidFill>
              </a:rPr>
              <a:t>Interpretación de Resultados</a:t>
            </a:r>
            <a:endParaRPr lang="en-US" sz="1400" dirty="0"/>
          </a:p>
        </p:txBody>
      </p:sp>
      <p:sp>
        <p:nvSpPr>
          <p:cNvPr id="19" name="Text 17"/>
          <p:cNvSpPr/>
          <p:nvPr/>
        </p:nvSpPr>
        <p:spPr>
          <a:xfrm>
            <a:off x="365760" y="3127248"/>
            <a:ext cx="8412480" cy="365760"/>
          </a:xfrm>
          <a:prstGeom prst="rect">
            <a:avLst/>
          </a:prstGeom>
          <a:noFill/>
          <a:ln/>
        </p:spPr>
        <p:txBody>
          <a:bodyPr wrap="square" rtlCol="0" anchor="ctr"/>
          <a:lstStyle/>
          <a:p>
            <a:pPr marL="0" indent="0">
              <a:buNone/>
            </a:pPr>
            <a:r>
              <a:rPr lang="en-US" sz="1150" b="1" dirty="0">
                <a:solidFill>
                  <a:srgbClr val="2E7D52"/>
                </a:solidFill>
              </a:rPr>
              <a:t>• </a:t>
            </a:r>
            <a:r>
              <a:rPr lang="en-US" sz="1150" dirty="0">
                <a:solidFill>
                  <a:srgbClr val="1A1A2E"/>
                </a:solidFill>
              </a:rPr>
              <a:t>Random Forest supera al azar con ROC-AUC 0.6262; Regresión Logística opera cerca del azar (0.5058).</a:t>
            </a:r>
            <a:endParaRPr lang="en-US" sz="1150" dirty="0"/>
          </a:p>
        </p:txBody>
      </p:sp>
      <p:sp>
        <p:nvSpPr>
          <p:cNvPr id="20" name="Text 18"/>
          <p:cNvSpPr/>
          <p:nvPr/>
        </p:nvSpPr>
        <p:spPr>
          <a:xfrm>
            <a:off x="365760" y="3557016"/>
            <a:ext cx="8412480" cy="365760"/>
          </a:xfrm>
          <a:prstGeom prst="rect">
            <a:avLst/>
          </a:prstGeom>
          <a:noFill/>
          <a:ln/>
        </p:spPr>
        <p:txBody>
          <a:bodyPr wrap="square" rtlCol="0" anchor="ctr"/>
          <a:lstStyle/>
          <a:p>
            <a:pPr marL="0" indent="0">
              <a:buNone/>
            </a:pPr>
            <a:r>
              <a:rPr lang="en-US" sz="1150" b="1" dirty="0">
                <a:solidFill>
                  <a:srgbClr val="2E7D52"/>
                </a:solidFill>
              </a:rPr>
              <a:t>• </a:t>
            </a:r>
            <a:r>
              <a:rPr lang="en-US" sz="1150" dirty="0">
                <a:solidFill>
                  <a:srgbClr val="1A1A2E"/>
                </a:solidFill>
              </a:rPr>
              <a:t>La baja desviación estándar del RF en CV (0.0069) confirma estabilidad: el modelo no depende del fold elegido.</a:t>
            </a:r>
            <a:endParaRPr lang="en-US" sz="1150" dirty="0"/>
          </a:p>
        </p:txBody>
      </p:sp>
      <p:sp>
        <p:nvSpPr>
          <p:cNvPr id="21" name="Text 19"/>
          <p:cNvSpPr/>
          <p:nvPr/>
        </p:nvSpPr>
        <p:spPr>
          <a:xfrm>
            <a:off x="365760" y="3986784"/>
            <a:ext cx="8412480" cy="365760"/>
          </a:xfrm>
          <a:prstGeom prst="rect">
            <a:avLst/>
          </a:prstGeom>
          <a:noFill/>
          <a:ln/>
        </p:spPr>
        <p:txBody>
          <a:bodyPr wrap="square" rtlCol="0" anchor="ctr"/>
          <a:lstStyle/>
          <a:p>
            <a:pPr marL="0" indent="0">
              <a:buNone/>
            </a:pPr>
            <a:r>
              <a:rPr lang="en-US" sz="1150" b="1" dirty="0">
                <a:solidFill>
                  <a:srgbClr val="2E7D52"/>
                </a:solidFill>
              </a:rPr>
              <a:t>• </a:t>
            </a:r>
            <a:r>
              <a:rPr lang="en-US" sz="1150" dirty="0">
                <a:solidFill>
                  <a:srgbClr val="1A1A2E"/>
                </a:solidFill>
              </a:rPr>
              <a:t>646 Falsos Negativos con umbral 0.50 representan oportunidades de upgrade no detectadas → problema central a resolver.</a:t>
            </a:r>
            <a:endParaRPr lang="en-US" sz="1150" dirty="0"/>
          </a:p>
        </p:txBody>
      </p:sp>
      <p:sp>
        <p:nvSpPr>
          <p:cNvPr id="22" name="Text 20"/>
          <p:cNvSpPr/>
          <p:nvPr/>
        </p:nvSpPr>
        <p:spPr>
          <a:xfrm>
            <a:off x="365760" y="4416552"/>
            <a:ext cx="8412480" cy="365760"/>
          </a:xfrm>
          <a:prstGeom prst="rect">
            <a:avLst/>
          </a:prstGeom>
          <a:noFill/>
          <a:ln/>
        </p:spPr>
        <p:txBody>
          <a:bodyPr wrap="square" rtlCol="0" anchor="ctr"/>
          <a:lstStyle/>
          <a:p>
            <a:pPr marL="0" indent="0">
              <a:buNone/>
            </a:pPr>
            <a:r>
              <a:rPr lang="en-US" sz="1150" b="1" dirty="0">
                <a:solidFill>
                  <a:srgbClr val="2E7D52"/>
                </a:solidFill>
              </a:rPr>
              <a:t>• </a:t>
            </a:r>
            <a:r>
              <a:rPr lang="en-US" sz="1150" dirty="0">
                <a:solidFill>
                  <a:srgbClr val="1A1A2E"/>
                </a:solidFill>
              </a:rPr>
              <a:t>Regresión Logística genera +1.000 Falsos Positivos: inviable como herramienta de campaña con costo de contacto real.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4731"/>
          </a:solidFill>
          <a:ln/>
        </p:spPr>
        <p:txBody>
          <a:bodyPr/>
          <a:lstStyle/>
          <a:p>
            <a:endParaRPr lang="es-CL"/>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200" b="1" dirty="0">
                <a:solidFill>
                  <a:srgbClr val="FFFFFF"/>
                </a:solidFill>
              </a:rPr>
              <a:t>PARTE 2 · Stanley Joseph  ·  Notebook 5: Evaluación de Modelos</a:t>
            </a:r>
            <a:endParaRPr lang="en-US" sz="12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marL="0" indent="0">
              <a:buNone/>
            </a:pPr>
            <a:r>
              <a:rPr lang="en-US" sz="2600" b="1" dirty="0">
                <a:solidFill>
                  <a:srgbClr val="1A1A2E"/>
                </a:solidFill>
              </a:rPr>
              <a:t>Matrices de Confusión: El Costo Comercial de los Errores</a:t>
            </a:r>
            <a:endParaRPr lang="en-US" sz="2600" dirty="0"/>
          </a:p>
        </p:txBody>
      </p:sp>
      <p:sp>
        <p:nvSpPr>
          <p:cNvPr id="5" name="Shape 3"/>
          <p:cNvSpPr/>
          <p:nvPr/>
        </p:nvSpPr>
        <p:spPr>
          <a:xfrm>
            <a:off x="365760" y="1170432"/>
            <a:ext cx="8412480" cy="27432"/>
          </a:xfrm>
          <a:prstGeom prst="rect">
            <a:avLst/>
          </a:prstGeom>
          <a:solidFill>
            <a:srgbClr val="D5EAD8"/>
          </a:solidFill>
          <a:ln/>
        </p:spPr>
        <p:txBody>
          <a:bodyPr/>
          <a:lstStyle/>
          <a:p>
            <a:endParaRPr lang="es-CL"/>
          </a:p>
        </p:txBody>
      </p:sp>
      <p:sp>
        <p:nvSpPr>
          <p:cNvPr id="6" name="Text 4"/>
          <p:cNvSpPr/>
          <p:nvPr/>
        </p:nvSpPr>
        <p:spPr>
          <a:xfrm>
            <a:off x="365760" y="1280160"/>
            <a:ext cx="3931920" cy="274320"/>
          </a:xfrm>
          <a:prstGeom prst="rect">
            <a:avLst/>
          </a:prstGeom>
          <a:noFill/>
          <a:ln/>
        </p:spPr>
        <p:txBody>
          <a:bodyPr wrap="square" rtlCol="0" anchor="ctr"/>
          <a:lstStyle/>
          <a:p>
            <a:pPr marL="0" indent="0">
              <a:buNone/>
            </a:pPr>
            <a:r>
              <a:rPr lang="en-US" sz="1300" b="1" dirty="0">
                <a:solidFill>
                  <a:srgbClr val="1A4731"/>
                </a:solidFill>
              </a:rPr>
              <a:t>Random Forest — Umbral 0.50</a:t>
            </a:r>
            <a:endParaRPr lang="en-US" sz="1300" dirty="0"/>
          </a:p>
        </p:txBody>
      </p:sp>
      <p:sp>
        <p:nvSpPr>
          <p:cNvPr id="7" name="Shape 5"/>
          <p:cNvSpPr/>
          <p:nvPr/>
        </p:nvSpPr>
        <p:spPr>
          <a:xfrm>
            <a:off x="1188720" y="1627632"/>
            <a:ext cx="1554480" cy="320040"/>
          </a:xfrm>
          <a:prstGeom prst="rect">
            <a:avLst/>
          </a:prstGeom>
          <a:solidFill>
            <a:srgbClr val="1A4731"/>
          </a:solidFill>
          <a:ln/>
        </p:spPr>
        <p:txBody>
          <a:bodyPr/>
          <a:lstStyle/>
          <a:p>
            <a:endParaRPr lang="es-CL"/>
          </a:p>
        </p:txBody>
      </p:sp>
      <p:sp>
        <p:nvSpPr>
          <p:cNvPr id="8" name="Text 6"/>
          <p:cNvSpPr/>
          <p:nvPr/>
        </p:nvSpPr>
        <p:spPr>
          <a:xfrm>
            <a:off x="1188720" y="1627632"/>
            <a:ext cx="1554480" cy="320040"/>
          </a:xfrm>
          <a:prstGeom prst="rect">
            <a:avLst/>
          </a:prstGeom>
          <a:noFill/>
          <a:ln/>
        </p:spPr>
        <p:txBody>
          <a:bodyPr wrap="square" rtlCol="0" anchor="ctr"/>
          <a:lstStyle/>
          <a:p>
            <a:pPr marL="0" indent="0" algn="ctr">
              <a:buNone/>
            </a:pPr>
            <a:r>
              <a:rPr lang="en-US" sz="1100" b="1" dirty="0">
                <a:solidFill>
                  <a:srgbClr val="FFFFFF"/>
                </a:solidFill>
              </a:rPr>
              <a:t>Pred: 0</a:t>
            </a:r>
            <a:endParaRPr lang="en-US" sz="1100" dirty="0"/>
          </a:p>
        </p:txBody>
      </p:sp>
      <p:sp>
        <p:nvSpPr>
          <p:cNvPr id="9" name="Shape 7"/>
          <p:cNvSpPr/>
          <p:nvPr/>
        </p:nvSpPr>
        <p:spPr>
          <a:xfrm>
            <a:off x="2834640" y="1627632"/>
            <a:ext cx="1554480" cy="320040"/>
          </a:xfrm>
          <a:prstGeom prst="rect">
            <a:avLst/>
          </a:prstGeom>
          <a:solidFill>
            <a:srgbClr val="1A4731"/>
          </a:solidFill>
          <a:ln/>
        </p:spPr>
        <p:txBody>
          <a:bodyPr/>
          <a:lstStyle/>
          <a:p>
            <a:endParaRPr lang="es-CL"/>
          </a:p>
        </p:txBody>
      </p:sp>
      <p:sp>
        <p:nvSpPr>
          <p:cNvPr id="10" name="Text 8"/>
          <p:cNvSpPr/>
          <p:nvPr/>
        </p:nvSpPr>
        <p:spPr>
          <a:xfrm>
            <a:off x="2834640" y="1627632"/>
            <a:ext cx="1554480" cy="320040"/>
          </a:xfrm>
          <a:prstGeom prst="rect">
            <a:avLst/>
          </a:prstGeom>
          <a:noFill/>
          <a:ln/>
        </p:spPr>
        <p:txBody>
          <a:bodyPr wrap="square" rtlCol="0" anchor="ctr"/>
          <a:lstStyle/>
          <a:p>
            <a:pPr marL="0" indent="0" algn="ctr">
              <a:buNone/>
            </a:pPr>
            <a:r>
              <a:rPr lang="en-US" sz="1100" b="1" dirty="0">
                <a:solidFill>
                  <a:srgbClr val="FFFFFF"/>
                </a:solidFill>
              </a:rPr>
              <a:t>Pred: 1</a:t>
            </a:r>
            <a:endParaRPr lang="en-US" sz="1100" dirty="0"/>
          </a:p>
        </p:txBody>
      </p:sp>
      <p:sp>
        <p:nvSpPr>
          <p:cNvPr id="11" name="Shape 9"/>
          <p:cNvSpPr/>
          <p:nvPr/>
        </p:nvSpPr>
        <p:spPr>
          <a:xfrm>
            <a:off x="365760" y="2011680"/>
            <a:ext cx="777240" cy="457200"/>
          </a:xfrm>
          <a:prstGeom prst="rect">
            <a:avLst/>
          </a:prstGeom>
          <a:solidFill>
            <a:srgbClr val="1A4731"/>
          </a:solidFill>
          <a:ln/>
        </p:spPr>
        <p:txBody>
          <a:bodyPr/>
          <a:lstStyle/>
          <a:p>
            <a:endParaRPr lang="es-CL"/>
          </a:p>
        </p:txBody>
      </p:sp>
      <p:sp>
        <p:nvSpPr>
          <p:cNvPr id="12" name="Text 10"/>
          <p:cNvSpPr/>
          <p:nvPr/>
        </p:nvSpPr>
        <p:spPr>
          <a:xfrm>
            <a:off x="365760" y="2011680"/>
            <a:ext cx="777240" cy="457200"/>
          </a:xfrm>
          <a:prstGeom prst="rect">
            <a:avLst/>
          </a:prstGeom>
          <a:noFill/>
          <a:ln/>
        </p:spPr>
        <p:txBody>
          <a:bodyPr wrap="square" rtlCol="0" anchor="ctr"/>
          <a:lstStyle/>
          <a:p>
            <a:pPr marL="0" indent="0" algn="ctr">
              <a:buNone/>
            </a:pPr>
            <a:r>
              <a:rPr lang="en-US" sz="1000" b="1" dirty="0">
                <a:solidFill>
                  <a:srgbClr val="FFFFFF"/>
                </a:solidFill>
              </a:rPr>
              <a:t>Real: 0</a:t>
            </a:r>
            <a:endParaRPr lang="en-US" sz="1000" dirty="0"/>
          </a:p>
        </p:txBody>
      </p:sp>
      <p:sp>
        <p:nvSpPr>
          <p:cNvPr id="13" name="Shape 11"/>
          <p:cNvSpPr/>
          <p:nvPr/>
        </p:nvSpPr>
        <p:spPr>
          <a:xfrm>
            <a:off x="1188720" y="2011680"/>
            <a:ext cx="1554480" cy="457200"/>
          </a:xfrm>
          <a:prstGeom prst="rect">
            <a:avLst/>
          </a:prstGeom>
          <a:solidFill>
            <a:srgbClr val="D5EAD8"/>
          </a:solidFill>
          <a:ln/>
        </p:spPr>
        <p:txBody>
          <a:bodyPr/>
          <a:lstStyle/>
          <a:p>
            <a:endParaRPr lang="es-CL"/>
          </a:p>
        </p:txBody>
      </p:sp>
      <p:sp>
        <p:nvSpPr>
          <p:cNvPr id="14" name="Text 12"/>
          <p:cNvSpPr/>
          <p:nvPr/>
        </p:nvSpPr>
        <p:spPr>
          <a:xfrm>
            <a:off x="1188720" y="2011680"/>
            <a:ext cx="1554480" cy="457200"/>
          </a:xfrm>
          <a:prstGeom prst="rect">
            <a:avLst/>
          </a:prstGeom>
          <a:noFill/>
          <a:ln/>
        </p:spPr>
        <p:txBody>
          <a:bodyPr wrap="square" rtlCol="0" anchor="ctr"/>
          <a:lstStyle/>
          <a:p>
            <a:pPr marL="0" indent="0" algn="ctr">
              <a:buNone/>
            </a:pPr>
            <a:r>
              <a:rPr lang="en-US" sz="1300" b="1" dirty="0">
                <a:solidFill>
                  <a:srgbClr val="1A1A2E"/>
                </a:solidFill>
              </a:rPr>
              <a:t>814</a:t>
            </a:r>
            <a:endParaRPr lang="en-US" sz="1300" dirty="0"/>
          </a:p>
        </p:txBody>
      </p:sp>
      <p:sp>
        <p:nvSpPr>
          <p:cNvPr id="15" name="Shape 13"/>
          <p:cNvSpPr/>
          <p:nvPr/>
        </p:nvSpPr>
        <p:spPr>
          <a:xfrm>
            <a:off x="2834640" y="2011680"/>
            <a:ext cx="1554480" cy="457200"/>
          </a:xfrm>
          <a:prstGeom prst="rect">
            <a:avLst/>
          </a:prstGeom>
          <a:solidFill>
            <a:srgbClr val="FFF3CD"/>
          </a:solidFill>
          <a:ln/>
        </p:spPr>
        <p:txBody>
          <a:bodyPr/>
          <a:lstStyle/>
          <a:p>
            <a:endParaRPr lang="es-CL"/>
          </a:p>
        </p:txBody>
      </p:sp>
      <p:sp>
        <p:nvSpPr>
          <p:cNvPr id="16" name="Text 14"/>
          <p:cNvSpPr/>
          <p:nvPr/>
        </p:nvSpPr>
        <p:spPr>
          <a:xfrm>
            <a:off x="2834640" y="2011680"/>
            <a:ext cx="1554480" cy="457200"/>
          </a:xfrm>
          <a:prstGeom prst="rect">
            <a:avLst/>
          </a:prstGeom>
          <a:noFill/>
          <a:ln/>
        </p:spPr>
        <p:txBody>
          <a:bodyPr wrap="square" rtlCol="0" anchor="ctr"/>
          <a:lstStyle/>
          <a:p>
            <a:pPr marL="0" indent="0" algn="ctr">
              <a:buNone/>
            </a:pPr>
            <a:r>
              <a:rPr lang="en-US" sz="1300" b="1" dirty="0">
                <a:solidFill>
                  <a:srgbClr val="1A1A2E"/>
                </a:solidFill>
              </a:rPr>
              <a:t>730</a:t>
            </a:r>
            <a:endParaRPr lang="en-US" sz="1300" dirty="0"/>
          </a:p>
        </p:txBody>
      </p:sp>
      <p:sp>
        <p:nvSpPr>
          <p:cNvPr id="17" name="Shape 15"/>
          <p:cNvSpPr/>
          <p:nvPr/>
        </p:nvSpPr>
        <p:spPr>
          <a:xfrm>
            <a:off x="365760" y="2514600"/>
            <a:ext cx="777240" cy="457200"/>
          </a:xfrm>
          <a:prstGeom prst="rect">
            <a:avLst/>
          </a:prstGeom>
          <a:solidFill>
            <a:srgbClr val="1A4731"/>
          </a:solidFill>
          <a:ln/>
        </p:spPr>
        <p:txBody>
          <a:bodyPr/>
          <a:lstStyle/>
          <a:p>
            <a:endParaRPr lang="es-CL"/>
          </a:p>
        </p:txBody>
      </p:sp>
      <p:sp>
        <p:nvSpPr>
          <p:cNvPr id="18" name="Text 16"/>
          <p:cNvSpPr/>
          <p:nvPr/>
        </p:nvSpPr>
        <p:spPr>
          <a:xfrm>
            <a:off x="365760" y="2514600"/>
            <a:ext cx="777240" cy="457200"/>
          </a:xfrm>
          <a:prstGeom prst="rect">
            <a:avLst/>
          </a:prstGeom>
          <a:noFill/>
          <a:ln/>
        </p:spPr>
        <p:txBody>
          <a:bodyPr wrap="square" rtlCol="0" anchor="ctr"/>
          <a:lstStyle/>
          <a:p>
            <a:pPr marL="0" indent="0" algn="ctr">
              <a:buNone/>
            </a:pPr>
            <a:r>
              <a:rPr lang="en-US" sz="1000" b="1" dirty="0">
                <a:solidFill>
                  <a:srgbClr val="FFFFFF"/>
                </a:solidFill>
              </a:rPr>
              <a:t>Real: 1</a:t>
            </a:r>
            <a:endParaRPr lang="en-US" sz="1000" dirty="0"/>
          </a:p>
        </p:txBody>
      </p:sp>
      <p:sp>
        <p:nvSpPr>
          <p:cNvPr id="19" name="Shape 17"/>
          <p:cNvSpPr/>
          <p:nvPr/>
        </p:nvSpPr>
        <p:spPr>
          <a:xfrm>
            <a:off x="1188720" y="2514600"/>
            <a:ext cx="1554480" cy="457200"/>
          </a:xfrm>
          <a:prstGeom prst="rect">
            <a:avLst/>
          </a:prstGeom>
          <a:solidFill>
            <a:srgbClr val="FADBD8"/>
          </a:solidFill>
          <a:ln/>
        </p:spPr>
        <p:txBody>
          <a:bodyPr/>
          <a:lstStyle/>
          <a:p>
            <a:endParaRPr lang="es-CL"/>
          </a:p>
        </p:txBody>
      </p:sp>
      <p:sp>
        <p:nvSpPr>
          <p:cNvPr id="20" name="Text 18"/>
          <p:cNvSpPr/>
          <p:nvPr/>
        </p:nvSpPr>
        <p:spPr>
          <a:xfrm>
            <a:off x="1188720" y="2514600"/>
            <a:ext cx="1554480" cy="457200"/>
          </a:xfrm>
          <a:prstGeom prst="rect">
            <a:avLst/>
          </a:prstGeom>
          <a:noFill/>
          <a:ln/>
        </p:spPr>
        <p:txBody>
          <a:bodyPr wrap="square" rtlCol="0" anchor="ctr"/>
          <a:lstStyle/>
          <a:p>
            <a:pPr marL="0" indent="0" algn="ctr">
              <a:buNone/>
            </a:pPr>
            <a:r>
              <a:rPr lang="en-US" sz="1300" b="1" dirty="0">
                <a:solidFill>
                  <a:srgbClr val="1A1A2E"/>
                </a:solidFill>
              </a:rPr>
              <a:t>646 ⚠</a:t>
            </a:r>
            <a:endParaRPr lang="en-US" sz="1300" dirty="0"/>
          </a:p>
        </p:txBody>
      </p:sp>
      <p:sp>
        <p:nvSpPr>
          <p:cNvPr id="21" name="Shape 19"/>
          <p:cNvSpPr/>
          <p:nvPr/>
        </p:nvSpPr>
        <p:spPr>
          <a:xfrm>
            <a:off x="2834640" y="2514600"/>
            <a:ext cx="1554480" cy="457200"/>
          </a:xfrm>
          <a:prstGeom prst="rect">
            <a:avLst/>
          </a:prstGeom>
          <a:solidFill>
            <a:srgbClr val="D5EAD8"/>
          </a:solidFill>
          <a:ln/>
        </p:spPr>
        <p:txBody>
          <a:bodyPr/>
          <a:lstStyle/>
          <a:p>
            <a:endParaRPr lang="es-CL"/>
          </a:p>
        </p:txBody>
      </p:sp>
      <p:sp>
        <p:nvSpPr>
          <p:cNvPr id="22" name="Text 20"/>
          <p:cNvSpPr/>
          <p:nvPr/>
        </p:nvSpPr>
        <p:spPr>
          <a:xfrm>
            <a:off x="2834640" y="2514600"/>
            <a:ext cx="1554480" cy="457200"/>
          </a:xfrm>
          <a:prstGeom prst="rect">
            <a:avLst/>
          </a:prstGeom>
          <a:noFill/>
          <a:ln/>
        </p:spPr>
        <p:txBody>
          <a:bodyPr wrap="square" rtlCol="0" anchor="ctr"/>
          <a:lstStyle/>
          <a:p>
            <a:pPr marL="0" indent="0" algn="ctr">
              <a:buNone/>
            </a:pPr>
            <a:r>
              <a:rPr lang="en-US" sz="1300" b="1" dirty="0">
                <a:solidFill>
                  <a:srgbClr val="1A1A2E"/>
                </a:solidFill>
              </a:rPr>
              <a:t>960</a:t>
            </a:r>
            <a:endParaRPr lang="en-US" sz="1300" dirty="0"/>
          </a:p>
        </p:txBody>
      </p:sp>
      <p:sp>
        <p:nvSpPr>
          <p:cNvPr id="23" name="Text 21"/>
          <p:cNvSpPr/>
          <p:nvPr/>
        </p:nvSpPr>
        <p:spPr>
          <a:xfrm>
            <a:off x="4754880" y="1280160"/>
            <a:ext cx="4023360" cy="274320"/>
          </a:xfrm>
          <a:prstGeom prst="rect">
            <a:avLst/>
          </a:prstGeom>
          <a:noFill/>
          <a:ln/>
        </p:spPr>
        <p:txBody>
          <a:bodyPr wrap="square" rtlCol="0" anchor="ctr"/>
          <a:lstStyle/>
          <a:p>
            <a:pPr marL="0" indent="0">
              <a:buNone/>
            </a:pPr>
            <a:r>
              <a:rPr lang="en-US" sz="1300" b="1" dirty="0">
                <a:solidFill>
                  <a:srgbClr val="777777"/>
                </a:solidFill>
              </a:rPr>
              <a:t>Regresión Logística — Umbral 0.50</a:t>
            </a:r>
            <a:endParaRPr lang="en-US" sz="1300" dirty="0"/>
          </a:p>
        </p:txBody>
      </p:sp>
      <p:sp>
        <p:nvSpPr>
          <p:cNvPr id="24" name="Shape 22"/>
          <p:cNvSpPr/>
          <p:nvPr/>
        </p:nvSpPr>
        <p:spPr>
          <a:xfrm>
            <a:off x="5577840" y="1627632"/>
            <a:ext cx="1554480" cy="320040"/>
          </a:xfrm>
          <a:prstGeom prst="rect">
            <a:avLst/>
          </a:prstGeom>
          <a:solidFill>
            <a:srgbClr val="9B9B9B"/>
          </a:solidFill>
          <a:ln/>
        </p:spPr>
        <p:txBody>
          <a:bodyPr/>
          <a:lstStyle/>
          <a:p>
            <a:endParaRPr lang="es-CL"/>
          </a:p>
        </p:txBody>
      </p:sp>
      <p:sp>
        <p:nvSpPr>
          <p:cNvPr id="25" name="Text 23"/>
          <p:cNvSpPr/>
          <p:nvPr/>
        </p:nvSpPr>
        <p:spPr>
          <a:xfrm>
            <a:off x="5577840" y="1627632"/>
            <a:ext cx="1554480" cy="320040"/>
          </a:xfrm>
          <a:prstGeom prst="rect">
            <a:avLst/>
          </a:prstGeom>
          <a:noFill/>
          <a:ln/>
        </p:spPr>
        <p:txBody>
          <a:bodyPr wrap="square" rtlCol="0" anchor="ctr"/>
          <a:lstStyle/>
          <a:p>
            <a:pPr marL="0" indent="0" algn="ctr">
              <a:buNone/>
            </a:pPr>
            <a:r>
              <a:rPr lang="en-US" sz="1100" b="1" dirty="0">
                <a:solidFill>
                  <a:srgbClr val="FFFFFF"/>
                </a:solidFill>
              </a:rPr>
              <a:t>Pred: 0</a:t>
            </a:r>
            <a:endParaRPr lang="en-US" sz="1100" dirty="0"/>
          </a:p>
        </p:txBody>
      </p:sp>
      <p:sp>
        <p:nvSpPr>
          <p:cNvPr id="26" name="Shape 24"/>
          <p:cNvSpPr/>
          <p:nvPr/>
        </p:nvSpPr>
        <p:spPr>
          <a:xfrm>
            <a:off x="7223760" y="1627632"/>
            <a:ext cx="1554480" cy="320040"/>
          </a:xfrm>
          <a:prstGeom prst="rect">
            <a:avLst/>
          </a:prstGeom>
          <a:solidFill>
            <a:srgbClr val="9B9B9B"/>
          </a:solidFill>
          <a:ln/>
        </p:spPr>
        <p:txBody>
          <a:bodyPr/>
          <a:lstStyle/>
          <a:p>
            <a:endParaRPr lang="es-CL"/>
          </a:p>
        </p:txBody>
      </p:sp>
      <p:sp>
        <p:nvSpPr>
          <p:cNvPr id="27" name="Text 25"/>
          <p:cNvSpPr/>
          <p:nvPr/>
        </p:nvSpPr>
        <p:spPr>
          <a:xfrm>
            <a:off x="7223760" y="1627632"/>
            <a:ext cx="1554480" cy="320040"/>
          </a:xfrm>
          <a:prstGeom prst="rect">
            <a:avLst/>
          </a:prstGeom>
          <a:noFill/>
          <a:ln/>
        </p:spPr>
        <p:txBody>
          <a:bodyPr wrap="square" rtlCol="0" anchor="ctr"/>
          <a:lstStyle/>
          <a:p>
            <a:pPr marL="0" indent="0" algn="ctr">
              <a:buNone/>
            </a:pPr>
            <a:r>
              <a:rPr lang="en-US" sz="1100" b="1" dirty="0">
                <a:solidFill>
                  <a:srgbClr val="FFFFFF"/>
                </a:solidFill>
              </a:rPr>
              <a:t>Pred: 1</a:t>
            </a:r>
            <a:endParaRPr lang="en-US" sz="1100" dirty="0"/>
          </a:p>
        </p:txBody>
      </p:sp>
      <p:sp>
        <p:nvSpPr>
          <p:cNvPr id="28" name="Shape 26"/>
          <p:cNvSpPr/>
          <p:nvPr/>
        </p:nvSpPr>
        <p:spPr>
          <a:xfrm>
            <a:off x="4754880" y="2011680"/>
            <a:ext cx="777240" cy="457200"/>
          </a:xfrm>
          <a:prstGeom prst="rect">
            <a:avLst/>
          </a:prstGeom>
          <a:solidFill>
            <a:srgbClr val="9B9B9B"/>
          </a:solidFill>
          <a:ln/>
        </p:spPr>
        <p:txBody>
          <a:bodyPr/>
          <a:lstStyle/>
          <a:p>
            <a:endParaRPr lang="es-CL"/>
          </a:p>
        </p:txBody>
      </p:sp>
      <p:sp>
        <p:nvSpPr>
          <p:cNvPr id="29" name="Text 27"/>
          <p:cNvSpPr/>
          <p:nvPr/>
        </p:nvSpPr>
        <p:spPr>
          <a:xfrm>
            <a:off x="4754880" y="2011680"/>
            <a:ext cx="777240" cy="457200"/>
          </a:xfrm>
          <a:prstGeom prst="rect">
            <a:avLst/>
          </a:prstGeom>
          <a:noFill/>
          <a:ln/>
        </p:spPr>
        <p:txBody>
          <a:bodyPr wrap="square" rtlCol="0" anchor="ctr"/>
          <a:lstStyle/>
          <a:p>
            <a:pPr marL="0" indent="0" algn="ctr">
              <a:buNone/>
            </a:pPr>
            <a:r>
              <a:rPr lang="en-US" sz="1000" b="1" dirty="0">
                <a:solidFill>
                  <a:srgbClr val="FFFFFF"/>
                </a:solidFill>
              </a:rPr>
              <a:t>Real: 0</a:t>
            </a:r>
            <a:endParaRPr lang="en-US" sz="1000" dirty="0"/>
          </a:p>
        </p:txBody>
      </p:sp>
      <p:sp>
        <p:nvSpPr>
          <p:cNvPr id="30" name="Shape 28"/>
          <p:cNvSpPr/>
          <p:nvPr/>
        </p:nvSpPr>
        <p:spPr>
          <a:xfrm>
            <a:off x="5577840" y="2011680"/>
            <a:ext cx="1554480" cy="457200"/>
          </a:xfrm>
          <a:prstGeom prst="rect">
            <a:avLst/>
          </a:prstGeom>
          <a:solidFill>
            <a:srgbClr val="E8E8E8"/>
          </a:solidFill>
          <a:ln/>
        </p:spPr>
        <p:txBody>
          <a:bodyPr/>
          <a:lstStyle/>
          <a:p>
            <a:endParaRPr lang="es-CL"/>
          </a:p>
        </p:txBody>
      </p:sp>
      <p:sp>
        <p:nvSpPr>
          <p:cNvPr id="31" name="Text 29"/>
          <p:cNvSpPr/>
          <p:nvPr/>
        </p:nvSpPr>
        <p:spPr>
          <a:xfrm>
            <a:off x="5577840" y="2011680"/>
            <a:ext cx="1554480" cy="457200"/>
          </a:xfrm>
          <a:prstGeom prst="rect">
            <a:avLst/>
          </a:prstGeom>
          <a:noFill/>
          <a:ln/>
        </p:spPr>
        <p:txBody>
          <a:bodyPr wrap="square" rtlCol="0" anchor="ctr"/>
          <a:lstStyle/>
          <a:p>
            <a:pPr marL="0" indent="0" algn="ctr">
              <a:buNone/>
            </a:pPr>
            <a:r>
              <a:rPr lang="en-US" sz="1300" b="1" dirty="0">
                <a:solidFill>
                  <a:srgbClr val="1A1A2E"/>
                </a:solidFill>
              </a:rPr>
              <a:t>459</a:t>
            </a:r>
            <a:endParaRPr lang="en-US" sz="1300" dirty="0"/>
          </a:p>
        </p:txBody>
      </p:sp>
      <p:sp>
        <p:nvSpPr>
          <p:cNvPr id="32" name="Shape 30"/>
          <p:cNvSpPr/>
          <p:nvPr/>
        </p:nvSpPr>
        <p:spPr>
          <a:xfrm>
            <a:off x="7223760" y="2011680"/>
            <a:ext cx="1554480" cy="457200"/>
          </a:xfrm>
          <a:prstGeom prst="rect">
            <a:avLst/>
          </a:prstGeom>
          <a:solidFill>
            <a:srgbClr val="FADBD8"/>
          </a:solidFill>
          <a:ln/>
        </p:spPr>
        <p:txBody>
          <a:bodyPr/>
          <a:lstStyle/>
          <a:p>
            <a:endParaRPr lang="es-CL"/>
          </a:p>
        </p:txBody>
      </p:sp>
      <p:sp>
        <p:nvSpPr>
          <p:cNvPr id="33" name="Text 31"/>
          <p:cNvSpPr/>
          <p:nvPr/>
        </p:nvSpPr>
        <p:spPr>
          <a:xfrm>
            <a:off x="7223760" y="2011680"/>
            <a:ext cx="1554480" cy="457200"/>
          </a:xfrm>
          <a:prstGeom prst="rect">
            <a:avLst/>
          </a:prstGeom>
          <a:noFill/>
          <a:ln/>
        </p:spPr>
        <p:txBody>
          <a:bodyPr wrap="square" rtlCol="0" anchor="ctr"/>
          <a:lstStyle/>
          <a:p>
            <a:pPr marL="0" indent="0" algn="ctr">
              <a:buNone/>
            </a:pPr>
            <a:r>
              <a:rPr lang="en-US" sz="1300" b="1" dirty="0">
                <a:solidFill>
                  <a:srgbClr val="1A1A2E"/>
                </a:solidFill>
              </a:rPr>
              <a:t>1085 ⚠</a:t>
            </a:r>
            <a:endParaRPr lang="en-US" sz="1300" dirty="0"/>
          </a:p>
        </p:txBody>
      </p:sp>
      <p:sp>
        <p:nvSpPr>
          <p:cNvPr id="34" name="Shape 32"/>
          <p:cNvSpPr/>
          <p:nvPr/>
        </p:nvSpPr>
        <p:spPr>
          <a:xfrm>
            <a:off x="4754880" y="2514600"/>
            <a:ext cx="777240" cy="457200"/>
          </a:xfrm>
          <a:prstGeom prst="rect">
            <a:avLst/>
          </a:prstGeom>
          <a:solidFill>
            <a:srgbClr val="9B9B9B"/>
          </a:solidFill>
          <a:ln/>
        </p:spPr>
        <p:txBody>
          <a:bodyPr/>
          <a:lstStyle/>
          <a:p>
            <a:endParaRPr lang="es-CL"/>
          </a:p>
        </p:txBody>
      </p:sp>
      <p:sp>
        <p:nvSpPr>
          <p:cNvPr id="35" name="Text 33"/>
          <p:cNvSpPr/>
          <p:nvPr/>
        </p:nvSpPr>
        <p:spPr>
          <a:xfrm>
            <a:off x="4754880" y="2514600"/>
            <a:ext cx="777240" cy="457200"/>
          </a:xfrm>
          <a:prstGeom prst="rect">
            <a:avLst/>
          </a:prstGeom>
          <a:noFill/>
          <a:ln/>
        </p:spPr>
        <p:txBody>
          <a:bodyPr wrap="square" rtlCol="0" anchor="ctr"/>
          <a:lstStyle/>
          <a:p>
            <a:pPr marL="0" indent="0" algn="ctr">
              <a:buNone/>
            </a:pPr>
            <a:r>
              <a:rPr lang="en-US" sz="1000" b="1" dirty="0">
                <a:solidFill>
                  <a:srgbClr val="FFFFFF"/>
                </a:solidFill>
              </a:rPr>
              <a:t>Real: 1</a:t>
            </a:r>
            <a:endParaRPr lang="en-US" sz="1000" dirty="0"/>
          </a:p>
        </p:txBody>
      </p:sp>
      <p:sp>
        <p:nvSpPr>
          <p:cNvPr id="36" name="Shape 34"/>
          <p:cNvSpPr/>
          <p:nvPr/>
        </p:nvSpPr>
        <p:spPr>
          <a:xfrm>
            <a:off x="5577840" y="2514600"/>
            <a:ext cx="1554480" cy="457200"/>
          </a:xfrm>
          <a:prstGeom prst="rect">
            <a:avLst/>
          </a:prstGeom>
          <a:solidFill>
            <a:srgbClr val="FFF3CD"/>
          </a:solidFill>
          <a:ln/>
        </p:spPr>
        <p:txBody>
          <a:bodyPr/>
          <a:lstStyle/>
          <a:p>
            <a:endParaRPr lang="es-CL"/>
          </a:p>
        </p:txBody>
      </p:sp>
      <p:sp>
        <p:nvSpPr>
          <p:cNvPr id="37" name="Text 35"/>
          <p:cNvSpPr/>
          <p:nvPr/>
        </p:nvSpPr>
        <p:spPr>
          <a:xfrm>
            <a:off x="5577840" y="2514600"/>
            <a:ext cx="1554480" cy="457200"/>
          </a:xfrm>
          <a:prstGeom prst="rect">
            <a:avLst/>
          </a:prstGeom>
          <a:noFill/>
          <a:ln/>
        </p:spPr>
        <p:txBody>
          <a:bodyPr wrap="square" rtlCol="0" anchor="ctr"/>
          <a:lstStyle/>
          <a:p>
            <a:pPr marL="0" indent="0" algn="ctr">
              <a:buNone/>
            </a:pPr>
            <a:r>
              <a:rPr lang="en-US" sz="1300" b="1" dirty="0">
                <a:solidFill>
                  <a:srgbClr val="1A1A2E"/>
                </a:solidFill>
              </a:rPr>
              <a:t>465</a:t>
            </a:r>
            <a:endParaRPr lang="en-US" sz="1300" dirty="0"/>
          </a:p>
        </p:txBody>
      </p:sp>
      <p:sp>
        <p:nvSpPr>
          <p:cNvPr id="38" name="Shape 36"/>
          <p:cNvSpPr/>
          <p:nvPr/>
        </p:nvSpPr>
        <p:spPr>
          <a:xfrm>
            <a:off x="7223760" y="2514600"/>
            <a:ext cx="1554480" cy="457200"/>
          </a:xfrm>
          <a:prstGeom prst="rect">
            <a:avLst/>
          </a:prstGeom>
          <a:solidFill>
            <a:srgbClr val="E8E8E8"/>
          </a:solidFill>
          <a:ln/>
        </p:spPr>
        <p:txBody>
          <a:bodyPr/>
          <a:lstStyle/>
          <a:p>
            <a:endParaRPr lang="es-CL"/>
          </a:p>
        </p:txBody>
      </p:sp>
      <p:sp>
        <p:nvSpPr>
          <p:cNvPr id="39" name="Text 37"/>
          <p:cNvSpPr/>
          <p:nvPr/>
        </p:nvSpPr>
        <p:spPr>
          <a:xfrm>
            <a:off x="7223760" y="2514600"/>
            <a:ext cx="1554480" cy="457200"/>
          </a:xfrm>
          <a:prstGeom prst="rect">
            <a:avLst/>
          </a:prstGeom>
          <a:noFill/>
          <a:ln/>
        </p:spPr>
        <p:txBody>
          <a:bodyPr wrap="square" rtlCol="0" anchor="ctr"/>
          <a:lstStyle/>
          <a:p>
            <a:pPr marL="0" indent="0" algn="ctr">
              <a:buNone/>
            </a:pPr>
            <a:r>
              <a:rPr lang="en-US" sz="1300" b="1" dirty="0">
                <a:solidFill>
                  <a:srgbClr val="1A1A2E"/>
                </a:solidFill>
              </a:rPr>
              <a:t>1141</a:t>
            </a:r>
            <a:endParaRPr lang="en-US" sz="1300" dirty="0"/>
          </a:p>
        </p:txBody>
      </p:sp>
      <p:sp>
        <p:nvSpPr>
          <p:cNvPr id="40" name="Shape 38"/>
          <p:cNvSpPr/>
          <p:nvPr/>
        </p:nvSpPr>
        <p:spPr>
          <a:xfrm>
            <a:off x="365760" y="3255264"/>
            <a:ext cx="8412480" cy="640080"/>
          </a:xfrm>
          <a:prstGeom prst="rect">
            <a:avLst/>
          </a:prstGeom>
          <a:solidFill>
            <a:srgbClr val="F4F6FA"/>
          </a:solidFill>
          <a:ln/>
        </p:spPr>
        <p:txBody>
          <a:bodyPr/>
          <a:lstStyle/>
          <a:p>
            <a:endParaRPr lang="es-CL"/>
          </a:p>
        </p:txBody>
      </p:sp>
      <p:sp>
        <p:nvSpPr>
          <p:cNvPr id="41" name="Shape 39"/>
          <p:cNvSpPr/>
          <p:nvPr/>
        </p:nvSpPr>
        <p:spPr>
          <a:xfrm>
            <a:off x="365760" y="3255264"/>
            <a:ext cx="64008" cy="640080"/>
          </a:xfrm>
          <a:prstGeom prst="rect">
            <a:avLst/>
          </a:prstGeom>
          <a:solidFill>
            <a:srgbClr val="1A4731"/>
          </a:solidFill>
          <a:ln/>
        </p:spPr>
        <p:txBody>
          <a:bodyPr/>
          <a:lstStyle/>
          <a:p>
            <a:endParaRPr lang="es-CL"/>
          </a:p>
        </p:txBody>
      </p:sp>
      <p:sp>
        <p:nvSpPr>
          <p:cNvPr id="42" name="Text 40"/>
          <p:cNvSpPr/>
          <p:nvPr/>
        </p:nvSpPr>
        <p:spPr>
          <a:xfrm>
            <a:off x="530352" y="3310128"/>
            <a:ext cx="8138160" cy="530352"/>
          </a:xfrm>
          <a:prstGeom prst="rect">
            <a:avLst/>
          </a:prstGeom>
          <a:noFill/>
          <a:ln/>
        </p:spPr>
        <p:txBody>
          <a:bodyPr wrap="square" rtlCol="0" anchor="ctr"/>
          <a:lstStyle/>
          <a:p>
            <a:pPr marL="0" indent="0">
              <a:buNone/>
            </a:pPr>
            <a:r>
              <a:rPr lang="en-US" sz="1150" dirty="0">
                <a:solidFill>
                  <a:srgbClr val="1A1A2E"/>
                </a:solidFill>
              </a:rPr>
              <a:t>RF: 646 oportunidades perdidas. LR: +1.085 contactos inútiles con alto costo. La optimización debe reducir los Falsos Negativos de RF sin disparar Falsos Positivos.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4731"/>
          </a:solidFill>
          <a:ln/>
        </p:spPr>
        <p:txBody>
          <a:bodyPr/>
          <a:lstStyle/>
          <a:p>
            <a:endParaRPr lang="es-CL"/>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200" b="1" dirty="0">
                <a:solidFill>
                  <a:srgbClr val="FFFFFF"/>
                </a:solidFill>
              </a:rPr>
              <a:t>PARTE 2 · Stanley Joseph  ·  Notebook 5: Evaluación de Modelos</a:t>
            </a:r>
            <a:endParaRPr lang="en-US" sz="12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marL="0" indent="0">
              <a:buNone/>
            </a:pPr>
            <a:r>
              <a:rPr lang="en-US" sz="2600" b="1" dirty="0">
                <a:solidFill>
                  <a:srgbClr val="1A1A2E"/>
                </a:solidFill>
              </a:rPr>
              <a:t>Evaluación de Modelos de Regresión — Predicción de total_spent</a:t>
            </a:r>
            <a:endParaRPr lang="en-US" sz="2600" dirty="0"/>
          </a:p>
        </p:txBody>
      </p:sp>
      <p:sp>
        <p:nvSpPr>
          <p:cNvPr id="5" name="Shape 3"/>
          <p:cNvSpPr/>
          <p:nvPr/>
        </p:nvSpPr>
        <p:spPr>
          <a:xfrm>
            <a:off x="365760" y="1170432"/>
            <a:ext cx="8412480" cy="27432"/>
          </a:xfrm>
          <a:prstGeom prst="rect">
            <a:avLst/>
          </a:prstGeom>
          <a:solidFill>
            <a:srgbClr val="D5EAD8"/>
          </a:solidFill>
          <a:ln/>
        </p:spPr>
        <p:txBody>
          <a:bodyPr/>
          <a:lstStyle/>
          <a:p>
            <a:endParaRPr lang="es-CL"/>
          </a:p>
        </p:txBody>
      </p:sp>
      <p:sp>
        <p:nvSpPr>
          <p:cNvPr id="6" name="Shape 4"/>
          <p:cNvSpPr/>
          <p:nvPr/>
        </p:nvSpPr>
        <p:spPr>
          <a:xfrm>
            <a:off x="365760" y="1280160"/>
            <a:ext cx="8412480" cy="566928"/>
          </a:xfrm>
          <a:prstGeom prst="rect">
            <a:avLst/>
          </a:prstGeom>
          <a:solidFill>
            <a:srgbClr val="D5EAD8"/>
          </a:solidFill>
          <a:ln/>
        </p:spPr>
        <p:txBody>
          <a:bodyPr/>
          <a:lstStyle/>
          <a:p>
            <a:endParaRPr lang="es-CL"/>
          </a:p>
        </p:txBody>
      </p:sp>
      <p:sp>
        <p:nvSpPr>
          <p:cNvPr id="7" name="Shape 5"/>
          <p:cNvSpPr/>
          <p:nvPr/>
        </p:nvSpPr>
        <p:spPr>
          <a:xfrm>
            <a:off x="365760" y="1280160"/>
            <a:ext cx="64008" cy="566928"/>
          </a:xfrm>
          <a:prstGeom prst="rect">
            <a:avLst/>
          </a:prstGeom>
          <a:solidFill>
            <a:srgbClr val="1A4731"/>
          </a:solidFill>
          <a:ln/>
        </p:spPr>
        <p:txBody>
          <a:bodyPr/>
          <a:lstStyle/>
          <a:p>
            <a:endParaRPr lang="es-CL"/>
          </a:p>
        </p:txBody>
      </p:sp>
      <p:sp>
        <p:nvSpPr>
          <p:cNvPr id="8" name="Text 6"/>
          <p:cNvSpPr/>
          <p:nvPr/>
        </p:nvSpPr>
        <p:spPr>
          <a:xfrm>
            <a:off x="530352" y="1325880"/>
            <a:ext cx="8119872" cy="475488"/>
          </a:xfrm>
          <a:prstGeom prst="rect">
            <a:avLst/>
          </a:prstGeom>
          <a:noFill/>
          <a:ln/>
        </p:spPr>
        <p:txBody>
          <a:bodyPr wrap="square" rtlCol="0" anchor="ctr"/>
          <a:lstStyle/>
          <a:p>
            <a:pPr marL="0" indent="0">
              <a:buNone/>
            </a:pPr>
            <a:r>
              <a:rPr lang="en-US" sz="1100" dirty="0">
                <a:solidFill>
                  <a:srgbClr val="1A1A2E"/>
                </a:solidFill>
              </a:rPr>
              <a:t>Pregunta experimental: ¿es posible predecir el gasto total de un cliente (total_spent) a partir del resto de variables del dataset? Se comparan LinearRegression y RandomForestRegressor (n=300) con métricas RMSE y R².</a:t>
            </a:r>
            <a:endParaRPr lang="en-US" sz="1100" dirty="0"/>
          </a:p>
        </p:txBody>
      </p:sp>
      <p:sp>
        <p:nvSpPr>
          <p:cNvPr id="9" name="Shape 7"/>
          <p:cNvSpPr/>
          <p:nvPr/>
        </p:nvSpPr>
        <p:spPr>
          <a:xfrm>
            <a:off x="365760" y="1993392"/>
            <a:ext cx="4023360" cy="2148840"/>
          </a:xfrm>
          <a:prstGeom prst="rect">
            <a:avLst/>
          </a:prstGeom>
          <a:solidFill>
            <a:srgbClr val="F4F6FA"/>
          </a:solidFill>
          <a:ln/>
        </p:spPr>
        <p:txBody>
          <a:bodyPr/>
          <a:lstStyle/>
          <a:p>
            <a:endParaRPr lang="es-CL"/>
          </a:p>
        </p:txBody>
      </p:sp>
      <p:sp>
        <p:nvSpPr>
          <p:cNvPr id="10" name="Shape 8"/>
          <p:cNvSpPr/>
          <p:nvPr/>
        </p:nvSpPr>
        <p:spPr>
          <a:xfrm>
            <a:off x="365760" y="1993392"/>
            <a:ext cx="4023360" cy="411480"/>
          </a:xfrm>
          <a:prstGeom prst="rect">
            <a:avLst/>
          </a:prstGeom>
          <a:solidFill>
            <a:srgbClr val="1A4731"/>
          </a:solidFill>
          <a:ln/>
        </p:spPr>
        <p:txBody>
          <a:bodyPr/>
          <a:lstStyle/>
          <a:p>
            <a:endParaRPr lang="es-CL"/>
          </a:p>
        </p:txBody>
      </p:sp>
      <p:sp>
        <p:nvSpPr>
          <p:cNvPr id="11" name="Text 9"/>
          <p:cNvSpPr/>
          <p:nvPr/>
        </p:nvSpPr>
        <p:spPr>
          <a:xfrm>
            <a:off x="365760" y="1993392"/>
            <a:ext cx="4023360" cy="411480"/>
          </a:xfrm>
          <a:prstGeom prst="rect">
            <a:avLst/>
          </a:prstGeom>
          <a:noFill/>
          <a:ln/>
        </p:spPr>
        <p:txBody>
          <a:bodyPr wrap="square" rtlCol="0" anchor="ctr"/>
          <a:lstStyle/>
          <a:p>
            <a:pPr marL="0" indent="0" algn="ctr">
              <a:buNone/>
            </a:pPr>
            <a:r>
              <a:rPr lang="en-US" sz="1200" b="1" dirty="0">
                <a:solidFill>
                  <a:srgbClr val="FFFFFF"/>
                </a:solidFill>
              </a:rPr>
              <a:t>RandomForestRegressor  (n_estimators=300)</a:t>
            </a:r>
            <a:endParaRPr lang="en-US" sz="1200" dirty="0"/>
          </a:p>
        </p:txBody>
      </p:sp>
      <p:sp>
        <p:nvSpPr>
          <p:cNvPr id="12" name="Shape 10"/>
          <p:cNvSpPr/>
          <p:nvPr/>
        </p:nvSpPr>
        <p:spPr>
          <a:xfrm>
            <a:off x="457200" y="2487168"/>
            <a:ext cx="3840480" cy="640080"/>
          </a:xfrm>
          <a:prstGeom prst="rect">
            <a:avLst/>
          </a:prstGeom>
          <a:solidFill>
            <a:srgbClr val="FFFFFF"/>
          </a:solidFill>
          <a:ln/>
        </p:spPr>
        <p:txBody>
          <a:bodyPr/>
          <a:lstStyle/>
          <a:p>
            <a:endParaRPr lang="es-CL"/>
          </a:p>
        </p:txBody>
      </p:sp>
      <p:sp>
        <p:nvSpPr>
          <p:cNvPr id="13" name="Text 11"/>
          <p:cNvSpPr/>
          <p:nvPr/>
        </p:nvSpPr>
        <p:spPr>
          <a:xfrm>
            <a:off x="594360" y="2542032"/>
            <a:ext cx="731520" cy="256032"/>
          </a:xfrm>
          <a:prstGeom prst="rect">
            <a:avLst/>
          </a:prstGeom>
          <a:noFill/>
          <a:ln/>
        </p:spPr>
        <p:txBody>
          <a:bodyPr wrap="square" lIns="0" tIns="0" rIns="0" bIns="0" rtlCol="0" anchor="ctr"/>
          <a:lstStyle/>
          <a:p>
            <a:pPr marL="0" indent="0">
              <a:buNone/>
            </a:pPr>
            <a:r>
              <a:rPr lang="en-US" sz="1200" b="1" dirty="0">
                <a:solidFill>
                  <a:srgbClr val="1A4731"/>
                </a:solidFill>
              </a:rPr>
              <a:t>RMSE</a:t>
            </a:r>
            <a:endParaRPr lang="en-US" sz="1200" dirty="0"/>
          </a:p>
        </p:txBody>
      </p:sp>
      <p:sp>
        <p:nvSpPr>
          <p:cNvPr id="14" name="Text 12"/>
          <p:cNvSpPr/>
          <p:nvPr/>
        </p:nvSpPr>
        <p:spPr>
          <a:xfrm>
            <a:off x="1371600" y="2542032"/>
            <a:ext cx="1097280" cy="256032"/>
          </a:xfrm>
          <a:prstGeom prst="rect">
            <a:avLst/>
          </a:prstGeom>
          <a:noFill/>
          <a:ln/>
        </p:spPr>
        <p:txBody>
          <a:bodyPr wrap="square" lIns="0" tIns="0" rIns="0" bIns="0" rtlCol="0" anchor="ctr"/>
          <a:lstStyle/>
          <a:p>
            <a:pPr marL="0" indent="0">
              <a:buNone/>
            </a:pPr>
            <a:r>
              <a:rPr lang="en-US" sz="2000" b="1" dirty="0">
                <a:solidFill>
                  <a:srgbClr val="1A4731"/>
                </a:solidFill>
              </a:rPr>
              <a:t>262.29</a:t>
            </a:r>
            <a:endParaRPr lang="en-US" sz="2000" dirty="0"/>
          </a:p>
        </p:txBody>
      </p:sp>
      <p:sp>
        <p:nvSpPr>
          <p:cNvPr id="15" name="Text 13"/>
          <p:cNvSpPr/>
          <p:nvPr/>
        </p:nvSpPr>
        <p:spPr>
          <a:xfrm>
            <a:off x="2560320" y="2578608"/>
            <a:ext cx="1645920" cy="475488"/>
          </a:xfrm>
          <a:prstGeom prst="rect">
            <a:avLst/>
          </a:prstGeom>
          <a:noFill/>
          <a:ln/>
        </p:spPr>
        <p:txBody>
          <a:bodyPr wrap="square" lIns="0" tIns="0" rIns="0" bIns="0" rtlCol="0" anchor="ctr"/>
          <a:lstStyle/>
          <a:p>
            <a:pPr marL="0" indent="0">
              <a:buNone/>
            </a:pPr>
            <a:r>
              <a:rPr lang="en-US" sz="950" dirty="0">
                <a:solidFill>
                  <a:srgbClr val="64748B"/>
                </a:solidFill>
              </a:rPr>
              <a:t>Menor error — mejor modelo</a:t>
            </a:r>
            <a:endParaRPr lang="en-US" sz="950" dirty="0"/>
          </a:p>
        </p:txBody>
      </p:sp>
      <p:sp>
        <p:nvSpPr>
          <p:cNvPr id="16" name="Shape 14"/>
          <p:cNvSpPr/>
          <p:nvPr/>
        </p:nvSpPr>
        <p:spPr>
          <a:xfrm>
            <a:off x="457200" y="3236976"/>
            <a:ext cx="3840480" cy="640080"/>
          </a:xfrm>
          <a:prstGeom prst="rect">
            <a:avLst/>
          </a:prstGeom>
          <a:solidFill>
            <a:srgbClr val="F4F6FA"/>
          </a:solidFill>
          <a:ln/>
        </p:spPr>
        <p:txBody>
          <a:bodyPr/>
          <a:lstStyle/>
          <a:p>
            <a:endParaRPr lang="es-CL"/>
          </a:p>
        </p:txBody>
      </p:sp>
      <p:sp>
        <p:nvSpPr>
          <p:cNvPr id="17" name="Text 15"/>
          <p:cNvSpPr/>
          <p:nvPr/>
        </p:nvSpPr>
        <p:spPr>
          <a:xfrm>
            <a:off x="594360" y="3291840"/>
            <a:ext cx="731520" cy="256032"/>
          </a:xfrm>
          <a:prstGeom prst="rect">
            <a:avLst/>
          </a:prstGeom>
          <a:noFill/>
          <a:ln/>
        </p:spPr>
        <p:txBody>
          <a:bodyPr wrap="square" lIns="0" tIns="0" rIns="0" bIns="0" rtlCol="0" anchor="ctr"/>
          <a:lstStyle/>
          <a:p>
            <a:pPr marL="0" indent="0">
              <a:buNone/>
            </a:pPr>
            <a:r>
              <a:rPr lang="en-US" sz="1200" b="1" dirty="0">
                <a:solidFill>
                  <a:srgbClr val="1A4731"/>
                </a:solidFill>
              </a:rPr>
              <a:t>R²</a:t>
            </a:r>
            <a:endParaRPr lang="en-US" sz="1200" dirty="0"/>
          </a:p>
        </p:txBody>
      </p:sp>
      <p:sp>
        <p:nvSpPr>
          <p:cNvPr id="18" name="Text 16"/>
          <p:cNvSpPr/>
          <p:nvPr/>
        </p:nvSpPr>
        <p:spPr>
          <a:xfrm>
            <a:off x="1371600" y="3291840"/>
            <a:ext cx="1097280" cy="256032"/>
          </a:xfrm>
          <a:prstGeom prst="rect">
            <a:avLst/>
          </a:prstGeom>
          <a:noFill/>
          <a:ln/>
        </p:spPr>
        <p:txBody>
          <a:bodyPr wrap="square" lIns="0" tIns="0" rIns="0" bIns="0" rtlCol="0" anchor="ctr"/>
          <a:lstStyle/>
          <a:p>
            <a:pPr marL="0" indent="0">
              <a:buNone/>
            </a:pPr>
            <a:r>
              <a:rPr lang="en-US" sz="2000" b="1" dirty="0">
                <a:solidFill>
                  <a:srgbClr val="1A4731"/>
                </a:solidFill>
              </a:rPr>
              <a:t>0.0481</a:t>
            </a:r>
            <a:endParaRPr lang="en-US" sz="2000" dirty="0"/>
          </a:p>
        </p:txBody>
      </p:sp>
      <p:sp>
        <p:nvSpPr>
          <p:cNvPr id="19" name="Text 17"/>
          <p:cNvSpPr/>
          <p:nvPr/>
        </p:nvSpPr>
        <p:spPr>
          <a:xfrm>
            <a:off x="2560320" y="3328416"/>
            <a:ext cx="1645920" cy="475488"/>
          </a:xfrm>
          <a:prstGeom prst="rect">
            <a:avLst/>
          </a:prstGeom>
          <a:noFill/>
          <a:ln/>
        </p:spPr>
        <p:txBody>
          <a:bodyPr wrap="square" lIns="0" tIns="0" rIns="0" bIns="0" rtlCol="0" anchor="ctr"/>
          <a:lstStyle/>
          <a:p>
            <a:pPr marL="0" indent="0">
              <a:buNone/>
            </a:pPr>
            <a:r>
              <a:rPr lang="en-US" sz="950" dirty="0">
                <a:solidFill>
                  <a:srgbClr val="64748B"/>
                </a:solidFill>
              </a:rPr>
              <a:t>Ligeramente &gt; 0: capta algo de señal</a:t>
            </a:r>
            <a:endParaRPr lang="en-US" sz="950" dirty="0"/>
          </a:p>
        </p:txBody>
      </p:sp>
      <p:sp>
        <p:nvSpPr>
          <p:cNvPr id="20" name="Shape 18"/>
          <p:cNvSpPr/>
          <p:nvPr/>
        </p:nvSpPr>
        <p:spPr>
          <a:xfrm>
            <a:off x="457200" y="3986784"/>
            <a:ext cx="3840480" cy="73152"/>
          </a:xfrm>
          <a:prstGeom prst="rect">
            <a:avLst/>
          </a:prstGeom>
          <a:solidFill>
            <a:srgbClr val="1A4731"/>
          </a:solidFill>
          <a:ln/>
        </p:spPr>
        <p:txBody>
          <a:bodyPr/>
          <a:lstStyle/>
          <a:p>
            <a:endParaRPr lang="es-CL"/>
          </a:p>
        </p:txBody>
      </p:sp>
      <p:sp>
        <p:nvSpPr>
          <p:cNvPr id="21" name="Text 19"/>
          <p:cNvSpPr/>
          <p:nvPr/>
        </p:nvSpPr>
        <p:spPr>
          <a:xfrm>
            <a:off x="457200" y="3767328"/>
            <a:ext cx="3840480" cy="237744"/>
          </a:xfrm>
          <a:prstGeom prst="rect">
            <a:avLst/>
          </a:prstGeom>
          <a:noFill/>
          <a:ln/>
        </p:spPr>
        <p:txBody>
          <a:bodyPr wrap="square" rtlCol="0" anchor="ctr"/>
          <a:lstStyle/>
          <a:p>
            <a:pPr marL="0" indent="0" algn="ctr">
              <a:buNone/>
            </a:pPr>
            <a:r>
              <a:rPr lang="en-US" sz="1000" b="1" dirty="0">
                <a:solidFill>
                  <a:srgbClr val="1A4731"/>
                </a:solidFill>
              </a:rPr>
              <a:t>✓  Mejor baseline de regresión</a:t>
            </a:r>
            <a:endParaRPr lang="en-US" sz="1000" dirty="0"/>
          </a:p>
        </p:txBody>
      </p:sp>
      <p:sp>
        <p:nvSpPr>
          <p:cNvPr id="22" name="Shape 20"/>
          <p:cNvSpPr/>
          <p:nvPr/>
        </p:nvSpPr>
        <p:spPr>
          <a:xfrm>
            <a:off x="4754880" y="1993392"/>
            <a:ext cx="4023360" cy="2148840"/>
          </a:xfrm>
          <a:prstGeom prst="rect">
            <a:avLst/>
          </a:prstGeom>
          <a:solidFill>
            <a:srgbClr val="F4F6FA"/>
          </a:solidFill>
          <a:ln/>
        </p:spPr>
        <p:txBody>
          <a:bodyPr/>
          <a:lstStyle/>
          <a:p>
            <a:endParaRPr lang="es-CL"/>
          </a:p>
        </p:txBody>
      </p:sp>
      <p:sp>
        <p:nvSpPr>
          <p:cNvPr id="23" name="Shape 21"/>
          <p:cNvSpPr/>
          <p:nvPr/>
        </p:nvSpPr>
        <p:spPr>
          <a:xfrm>
            <a:off x="4754880" y="1993392"/>
            <a:ext cx="4023360" cy="411480"/>
          </a:xfrm>
          <a:prstGeom prst="rect">
            <a:avLst/>
          </a:prstGeom>
          <a:solidFill>
            <a:srgbClr val="9B9B9B"/>
          </a:solidFill>
          <a:ln/>
        </p:spPr>
        <p:txBody>
          <a:bodyPr/>
          <a:lstStyle/>
          <a:p>
            <a:endParaRPr lang="es-CL"/>
          </a:p>
        </p:txBody>
      </p:sp>
      <p:sp>
        <p:nvSpPr>
          <p:cNvPr id="24" name="Text 22"/>
          <p:cNvSpPr/>
          <p:nvPr/>
        </p:nvSpPr>
        <p:spPr>
          <a:xfrm>
            <a:off x="4754880" y="1993392"/>
            <a:ext cx="4023360" cy="411480"/>
          </a:xfrm>
          <a:prstGeom prst="rect">
            <a:avLst/>
          </a:prstGeom>
          <a:noFill/>
          <a:ln/>
        </p:spPr>
        <p:txBody>
          <a:bodyPr wrap="square" rtlCol="0" anchor="ctr"/>
          <a:lstStyle/>
          <a:p>
            <a:pPr marL="0" indent="0" algn="ctr">
              <a:buNone/>
            </a:pPr>
            <a:r>
              <a:rPr lang="en-US" sz="1200" b="1" dirty="0">
                <a:solidFill>
                  <a:srgbClr val="FFFFFF"/>
                </a:solidFill>
              </a:rPr>
              <a:t>LinearRegression</a:t>
            </a:r>
            <a:endParaRPr lang="en-US" sz="1200" dirty="0"/>
          </a:p>
        </p:txBody>
      </p:sp>
      <p:sp>
        <p:nvSpPr>
          <p:cNvPr id="25" name="Shape 23"/>
          <p:cNvSpPr/>
          <p:nvPr/>
        </p:nvSpPr>
        <p:spPr>
          <a:xfrm>
            <a:off x="4846320" y="2487168"/>
            <a:ext cx="3840480" cy="640080"/>
          </a:xfrm>
          <a:prstGeom prst="rect">
            <a:avLst/>
          </a:prstGeom>
          <a:solidFill>
            <a:srgbClr val="FFFFFF"/>
          </a:solidFill>
          <a:ln/>
        </p:spPr>
        <p:txBody>
          <a:bodyPr/>
          <a:lstStyle/>
          <a:p>
            <a:endParaRPr lang="es-CL"/>
          </a:p>
        </p:txBody>
      </p:sp>
      <p:sp>
        <p:nvSpPr>
          <p:cNvPr id="26" name="Text 24"/>
          <p:cNvSpPr/>
          <p:nvPr/>
        </p:nvSpPr>
        <p:spPr>
          <a:xfrm>
            <a:off x="4983480" y="2542032"/>
            <a:ext cx="731520" cy="256032"/>
          </a:xfrm>
          <a:prstGeom prst="rect">
            <a:avLst/>
          </a:prstGeom>
          <a:noFill/>
          <a:ln/>
        </p:spPr>
        <p:txBody>
          <a:bodyPr wrap="square" lIns="0" tIns="0" rIns="0" bIns="0" rtlCol="0" anchor="ctr"/>
          <a:lstStyle/>
          <a:p>
            <a:pPr marL="0" indent="0">
              <a:buNone/>
            </a:pPr>
            <a:r>
              <a:rPr lang="en-US" sz="1200" b="1" dirty="0">
                <a:solidFill>
                  <a:srgbClr val="777777"/>
                </a:solidFill>
              </a:rPr>
              <a:t>RMSE</a:t>
            </a:r>
            <a:endParaRPr lang="en-US" sz="1200" dirty="0"/>
          </a:p>
        </p:txBody>
      </p:sp>
      <p:sp>
        <p:nvSpPr>
          <p:cNvPr id="27" name="Text 25"/>
          <p:cNvSpPr/>
          <p:nvPr/>
        </p:nvSpPr>
        <p:spPr>
          <a:xfrm>
            <a:off x="5760720" y="2542032"/>
            <a:ext cx="1280160" cy="256032"/>
          </a:xfrm>
          <a:prstGeom prst="rect">
            <a:avLst/>
          </a:prstGeom>
          <a:noFill/>
          <a:ln/>
        </p:spPr>
        <p:txBody>
          <a:bodyPr wrap="square" lIns="0" tIns="0" rIns="0" bIns="0" rtlCol="0" anchor="ctr"/>
          <a:lstStyle/>
          <a:p>
            <a:pPr marL="0" indent="0">
              <a:buNone/>
            </a:pPr>
            <a:r>
              <a:rPr lang="en-US" sz="2000" b="1" dirty="0">
                <a:solidFill>
                  <a:srgbClr val="999999"/>
                </a:solidFill>
              </a:rPr>
              <a:t>269.16</a:t>
            </a:r>
            <a:endParaRPr lang="en-US" sz="2000" dirty="0"/>
          </a:p>
        </p:txBody>
      </p:sp>
      <p:sp>
        <p:nvSpPr>
          <p:cNvPr id="28" name="Text 26"/>
          <p:cNvSpPr/>
          <p:nvPr/>
        </p:nvSpPr>
        <p:spPr>
          <a:xfrm>
            <a:off x="7132320" y="2578608"/>
            <a:ext cx="1463040" cy="475488"/>
          </a:xfrm>
          <a:prstGeom prst="rect">
            <a:avLst/>
          </a:prstGeom>
          <a:noFill/>
          <a:ln/>
        </p:spPr>
        <p:txBody>
          <a:bodyPr wrap="square" lIns="0" tIns="0" rIns="0" bIns="0" rtlCol="0" anchor="ctr"/>
          <a:lstStyle/>
          <a:p>
            <a:pPr marL="0" indent="0">
              <a:buNone/>
            </a:pPr>
            <a:r>
              <a:rPr lang="en-US" sz="950" dirty="0">
                <a:solidFill>
                  <a:srgbClr val="64748B"/>
                </a:solidFill>
              </a:rPr>
              <a:t>+6.87 puntos vs RF</a:t>
            </a:r>
            <a:endParaRPr lang="en-US" sz="950" dirty="0"/>
          </a:p>
        </p:txBody>
      </p:sp>
      <p:sp>
        <p:nvSpPr>
          <p:cNvPr id="29" name="Shape 27"/>
          <p:cNvSpPr/>
          <p:nvPr/>
        </p:nvSpPr>
        <p:spPr>
          <a:xfrm>
            <a:off x="4846320" y="3236976"/>
            <a:ext cx="3840480" cy="640080"/>
          </a:xfrm>
          <a:prstGeom prst="rect">
            <a:avLst/>
          </a:prstGeom>
          <a:solidFill>
            <a:srgbClr val="F4F6FA"/>
          </a:solidFill>
          <a:ln/>
        </p:spPr>
        <p:txBody>
          <a:bodyPr/>
          <a:lstStyle/>
          <a:p>
            <a:endParaRPr lang="es-CL"/>
          </a:p>
        </p:txBody>
      </p:sp>
      <p:sp>
        <p:nvSpPr>
          <p:cNvPr id="30" name="Text 28"/>
          <p:cNvSpPr/>
          <p:nvPr/>
        </p:nvSpPr>
        <p:spPr>
          <a:xfrm>
            <a:off x="4983480" y="3291840"/>
            <a:ext cx="731520" cy="256032"/>
          </a:xfrm>
          <a:prstGeom prst="rect">
            <a:avLst/>
          </a:prstGeom>
          <a:noFill/>
          <a:ln/>
        </p:spPr>
        <p:txBody>
          <a:bodyPr wrap="square" lIns="0" tIns="0" rIns="0" bIns="0" rtlCol="0" anchor="ctr"/>
          <a:lstStyle/>
          <a:p>
            <a:pPr marL="0" indent="0">
              <a:buNone/>
            </a:pPr>
            <a:r>
              <a:rPr lang="en-US" sz="1200" b="1" dirty="0">
                <a:solidFill>
                  <a:srgbClr val="777777"/>
                </a:solidFill>
              </a:rPr>
              <a:t>R²</a:t>
            </a:r>
            <a:endParaRPr lang="en-US" sz="1200" dirty="0"/>
          </a:p>
        </p:txBody>
      </p:sp>
      <p:sp>
        <p:nvSpPr>
          <p:cNvPr id="31" name="Text 29"/>
          <p:cNvSpPr/>
          <p:nvPr/>
        </p:nvSpPr>
        <p:spPr>
          <a:xfrm>
            <a:off x="5760720" y="3291840"/>
            <a:ext cx="1280160" cy="256032"/>
          </a:xfrm>
          <a:prstGeom prst="rect">
            <a:avLst/>
          </a:prstGeom>
          <a:noFill/>
          <a:ln/>
        </p:spPr>
        <p:txBody>
          <a:bodyPr wrap="square" lIns="0" tIns="0" rIns="0" bIns="0" rtlCol="0" anchor="ctr"/>
          <a:lstStyle/>
          <a:p>
            <a:pPr marL="0" indent="0">
              <a:buNone/>
            </a:pPr>
            <a:r>
              <a:rPr lang="en-US" sz="2000" b="1" dirty="0">
                <a:solidFill>
                  <a:srgbClr val="999999"/>
                </a:solidFill>
              </a:rPr>
              <a:t>-0.0024</a:t>
            </a:r>
            <a:endParaRPr lang="en-US" sz="2000" dirty="0"/>
          </a:p>
        </p:txBody>
      </p:sp>
      <p:sp>
        <p:nvSpPr>
          <p:cNvPr id="32" name="Text 30"/>
          <p:cNvSpPr/>
          <p:nvPr/>
        </p:nvSpPr>
        <p:spPr>
          <a:xfrm>
            <a:off x="7132320" y="3328416"/>
            <a:ext cx="1463040" cy="475488"/>
          </a:xfrm>
          <a:prstGeom prst="rect">
            <a:avLst/>
          </a:prstGeom>
          <a:noFill/>
          <a:ln/>
        </p:spPr>
        <p:txBody>
          <a:bodyPr wrap="square" lIns="0" tIns="0" rIns="0" bIns="0" rtlCol="0" anchor="ctr"/>
          <a:lstStyle/>
          <a:p>
            <a:pPr marL="0" indent="0">
              <a:buNone/>
            </a:pPr>
            <a:r>
              <a:rPr lang="en-US" sz="950" dirty="0">
                <a:solidFill>
                  <a:srgbClr val="64748B"/>
                </a:solidFill>
              </a:rPr>
              <a:t>&lt; 0: peor que predecir la media</a:t>
            </a:r>
            <a:endParaRPr lang="en-US" sz="950" dirty="0"/>
          </a:p>
        </p:txBody>
      </p:sp>
      <p:sp>
        <p:nvSpPr>
          <p:cNvPr id="33" name="Text 31"/>
          <p:cNvSpPr/>
          <p:nvPr/>
        </p:nvSpPr>
        <p:spPr>
          <a:xfrm>
            <a:off x="4846320" y="3767328"/>
            <a:ext cx="3840480" cy="237744"/>
          </a:xfrm>
          <a:prstGeom prst="rect">
            <a:avLst/>
          </a:prstGeom>
          <a:noFill/>
          <a:ln/>
        </p:spPr>
        <p:txBody>
          <a:bodyPr wrap="square" rtlCol="0" anchor="ctr"/>
          <a:lstStyle/>
          <a:p>
            <a:pPr marL="0" indent="0" algn="ctr">
              <a:buNone/>
            </a:pPr>
            <a:r>
              <a:rPr lang="en-US" sz="1000" b="1" dirty="0">
                <a:solidFill>
                  <a:srgbClr val="999999"/>
                </a:solidFill>
              </a:rPr>
              <a:t>✗  R² negativo: no agrega valor predictivo</a:t>
            </a:r>
            <a:endParaRPr lang="en-US" sz="1000" dirty="0"/>
          </a:p>
        </p:txBody>
      </p:sp>
      <p:sp>
        <p:nvSpPr>
          <p:cNvPr id="34" name="Shape 32"/>
          <p:cNvSpPr/>
          <p:nvPr/>
        </p:nvSpPr>
        <p:spPr>
          <a:xfrm>
            <a:off x="365760" y="4169664"/>
            <a:ext cx="8412480" cy="749808"/>
          </a:xfrm>
          <a:prstGeom prst="rect">
            <a:avLst/>
          </a:prstGeom>
          <a:solidFill>
            <a:srgbClr val="1A1A2E"/>
          </a:solidFill>
          <a:ln/>
        </p:spPr>
        <p:txBody>
          <a:bodyPr/>
          <a:lstStyle/>
          <a:p>
            <a:endParaRPr lang="es-CL"/>
          </a:p>
        </p:txBody>
      </p:sp>
      <p:sp>
        <p:nvSpPr>
          <p:cNvPr id="35" name="Shape 33"/>
          <p:cNvSpPr/>
          <p:nvPr/>
        </p:nvSpPr>
        <p:spPr>
          <a:xfrm>
            <a:off x="365760" y="4169664"/>
            <a:ext cx="64008" cy="749808"/>
          </a:xfrm>
          <a:prstGeom prst="rect">
            <a:avLst/>
          </a:prstGeom>
          <a:solidFill>
            <a:srgbClr val="2E7D52"/>
          </a:solidFill>
          <a:ln/>
        </p:spPr>
        <p:txBody>
          <a:bodyPr/>
          <a:lstStyle/>
          <a:p>
            <a:endParaRPr lang="es-CL"/>
          </a:p>
        </p:txBody>
      </p:sp>
      <p:sp>
        <p:nvSpPr>
          <p:cNvPr id="36" name="Text 34"/>
          <p:cNvSpPr/>
          <p:nvPr/>
        </p:nvSpPr>
        <p:spPr>
          <a:xfrm>
            <a:off x="521208" y="4215384"/>
            <a:ext cx="8138160" cy="658368"/>
          </a:xfrm>
          <a:prstGeom prst="rect">
            <a:avLst/>
          </a:prstGeom>
          <a:noFill/>
          <a:ln/>
        </p:spPr>
        <p:txBody>
          <a:bodyPr wrap="square" rtlCol="0" anchor="ctr"/>
          <a:lstStyle/>
          <a:p>
            <a:pPr marL="0" indent="0">
              <a:buNone/>
            </a:pPr>
            <a:r>
              <a:rPr lang="en-US" sz="1100" dirty="0">
                <a:solidFill>
                  <a:srgbClr val="FFFFFF"/>
                </a:solidFill>
              </a:rPr>
              <a:t>Conclusión: aunque RF supera a LR, el R² ≈ 0 en ambos modelos confirma que total_spent no puede predecirse con las variables actuales. El gasto depende de factores externos no capturados en el dataset. Esto refuerza la necesidad de Feature Engineering con variables de intención de compra.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4731"/>
          </a:solidFill>
          <a:ln/>
        </p:spPr>
        <p:txBody>
          <a:bodyPr/>
          <a:lstStyle/>
          <a:p>
            <a:endParaRPr lang="es-CL"/>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200" b="1" dirty="0">
                <a:solidFill>
                  <a:srgbClr val="FFFFFF"/>
                </a:solidFill>
              </a:rPr>
              <a:t>PARTE 2 · Stanley Joseph  ·  Notebook 5: Evaluación de Modelos</a:t>
            </a:r>
            <a:endParaRPr lang="en-US" sz="12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marL="0" indent="0">
              <a:buNone/>
            </a:pPr>
            <a:r>
              <a:rPr lang="en-US" sz="2600" b="1" dirty="0">
                <a:solidFill>
                  <a:srgbClr val="1A1A2E"/>
                </a:solidFill>
              </a:rPr>
              <a:t>¿Qué nos dice el ROC-AUC? Hacia la Optimización</a:t>
            </a:r>
            <a:endParaRPr lang="en-US" sz="2600" dirty="0"/>
          </a:p>
        </p:txBody>
      </p:sp>
      <p:sp>
        <p:nvSpPr>
          <p:cNvPr id="5" name="Shape 3"/>
          <p:cNvSpPr/>
          <p:nvPr/>
        </p:nvSpPr>
        <p:spPr>
          <a:xfrm>
            <a:off x="365760" y="1170432"/>
            <a:ext cx="8412480" cy="27432"/>
          </a:xfrm>
          <a:prstGeom prst="rect">
            <a:avLst/>
          </a:prstGeom>
          <a:solidFill>
            <a:srgbClr val="D5EAD8"/>
          </a:solidFill>
          <a:ln/>
        </p:spPr>
        <p:txBody>
          <a:bodyPr/>
          <a:lstStyle/>
          <a:p>
            <a:endParaRPr lang="es-CL"/>
          </a:p>
        </p:txBody>
      </p:sp>
      <p:graphicFrame>
        <p:nvGraphicFramePr>
          <p:cNvPr id="6" name="Chart 0"/>
          <p:cNvGraphicFramePr/>
          <p:nvPr/>
        </p:nvGraphicFramePr>
        <p:xfrm>
          <a:off x="365760" y="1280160"/>
          <a:ext cx="45720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5212080" y="1325880"/>
            <a:ext cx="3566160" cy="274320"/>
          </a:xfrm>
          <a:prstGeom prst="rect">
            <a:avLst/>
          </a:prstGeom>
          <a:noFill/>
          <a:ln/>
        </p:spPr>
        <p:txBody>
          <a:bodyPr wrap="square" rtlCol="0" anchor="ctr"/>
          <a:lstStyle/>
          <a:p>
            <a:pPr marL="0" indent="0">
              <a:buNone/>
            </a:pPr>
            <a:r>
              <a:rPr lang="en-US" sz="1400" b="1" dirty="0">
                <a:solidFill>
                  <a:srgbClr val="1A4731"/>
                </a:solidFill>
              </a:rPr>
              <a:t>Conclusiones clave</a:t>
            </a:r>
            <a:endParaRPr lang="en-US" sz="1400" dirty="0"/>
          </a:p>
        </p:txBody>
      </p:sp>
      <p:sp>
        <p:nvSpPr>
          <p:cNvPr id="8" name="Shape 5"/>
          <p:cNvSpPr/>
          <p:nvPr/>
        </p:nvSpPr>
        <p:spPr>
          <a:xfrm>
            <a:off x="5212080" y="1719072"/>
            <a:ext cx="3657600" cy="658368"/>
          </a:xfrm>
          <a:prstGeom prst="rect">
            <a:avLst/>
          </a:prstGeom>
          <a:solidFill>
            <a:srgbClr val="F4F6FA"/>
          </a:solidFill>
          <a:ln/>
          <a:effectLst>
            <a:outerShdw blurRad="50800" dist="12700" dir="8100000" algn="bl" rotWithShape="0">
              <a:srgbClr val="000000">
                <a:alpha val="8000"/>
              </a:srgbClr>
            </a:outerShdw>
          </a:effectLst>
        </p:spPr>
        <p:txBody>
          <a:bodyPr/>
          <a:lstStyle/>
          <a:p>
            <a:endParaRPr lang="es-CL"/>
          </a:p>
        </p:txBody>
      </p:sp>
      <p:sp>
        <p:nvSpPr>
          <p:cNvPr id="9" name="Shape 6"/>
          <p:cNvSpPr/>
          <p:nvPr/>
        </p:nvSpPr>
        <p:spPr>
          <a:xfrm>
            <a:off x="5212080" y="1719072"/>
            <a:ext cx="54864" cy="658368"/>
          </a:xfrm>
          <a:prstGeom prst="rect">
            <a:avLst/>
          </a:prstGeom>
          <a:solidFill>
            <a:srgbClr val="2E7D52"/>
          </a:solidFill>
          <a:ln/>
        </p:spPr>
        <p:txBody>
          <a:bodyPr/>
          <a:lstStyle/>
          <a:p>
            <a:endParaRPr lang="es-CL"/>
          </a:p>
        </p:txBody>
      </p:sp>
      <p:sp>
        <p:nvSpPr>
          <p:cNvPr id="10" name="Text 7"/>
          <p:cNvSpPr/>
          <p:nvPr/>
        </p:nvSpPr>
        <p:spPr>
          <a:xfrm>
            <a:off x="5349240" y="1755648"/>
            <a:ext cx="3429000" cy="219456"/>
          </a:xfrm>
          <a:prstGeom prst="rect">
            <a:avLst/>
          </a:prstGeom>
          <a:noFill/>
          <a:ln/>
        </p:spPr>
        <p:txBody>
          <a:bodyPr wrap="square" lIns="0" tIns="0" rIns="0" bIns="0" rtlCol="0" anchor="ctr"/>
          <a:lstStyle/>
          <a:p>
            <a:pPr marL="0" indent="0">
              <a:buNone/>
            </a:pPr>
            <a:r>
              <a:rPr lang="en-US" sz="1200" b="1" dirty="0">
                <a:solidFill>
                  <a:srgbClr val="1A4731"/>
                </a:solidFill>
              </a:rPr>
              <a:t>ROC-AUC 0.626</a:t>
            </a:r>
            <a:endParaRPr lang="en-US" sz="1200" dirty="0"/>
          </a:p>
        </p:txBody>
      </p:sp>
      <p:sp>
        <p:nvSpPr>
          <p:cNvPr id="11" name="Text 8"/>
          <p:cNvSpPr/>
          <p:nvPr/>
        </p:nvSpPr>
        <p:spPr>
          <a:xfrm>
            <a:off x="5349240" y="1993392"/>
            <a:ext cx="3429000" cy="320040"/>
          </a:xfrm>
          <a:prstGeom prst="rect">
            <a:avLst/>
          </a:prstGeom>
          <a:noFill/>
          <a:ln/>
        </p:spPr>
        <p:txBody>
          <a:bodyPr wrap="square" lIns="0" tIns="0" rIns="0" bIns="0" rtlCol="0" anchor="ctr"/>
          <a:lstStyle/>
          <a:p>
            <a:pPr marL="0" indent="0">
              <a:buNone/>
            </a:pPr>
            <a:r>
              <a:rPr lang="en-US" sz="1050" dirty="0">
                <a:solidFill>
                  <a:srgbClr val="64748B"/>
                </a:solidFill>
              </a:rPr>
              <a:t>RF discrimina mejor que el azar; estructura no lineal confirmada</a:t>
            </a:r>
            <a:endParaRPr lang="en-US" sz="1050" dirty="0"/>
          </a:p>
        </p:txBody>
      </p:sp>
      <p:sp>
        <p:nvSpPr>
          <p:cNvPr id="12" name="Shape 9"/>
          <p:cNvSpPr/>
          <p:nvPr/>
        </p:nvSpPr>
        <p:spPr>
          <a:xfrm>
            <a:off x="5212080" y="2496312"/>
            <a:ext cx="3657600" cy="65836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s-CL"/>
          </a:p>
        </p:txBody>
      </p:sp>
      <p:sp>
        <p:nvSpPr>
          <p:cNvPr id="13" name="Shape 10"/>
          <p:cNvSpPr/>
          <p:nvPr/>
        </p:nvSpPr>
        <p:spPr>
          <a:xfrm>
            <a:off x="5212080" y="2496312"/>
            <a:ext cx="54864" cy="658368"/>
          </a:xfrm>
          <a:prstGeom prst="rect">
            <a:avLst/>
          </a:prstGeom>
          <a:solidFill>
            <a:srgbClr val="2E7D52"/>
          </a:solidFill>
          <a:ln/>
        </p:spPr>
        <p:txBody>
          <a:bodyPr/>
          <a:lstStyle/>
          <a:p>
            <a:endParaRPr lang="es-CL"/>
          </a:p>
        </p:txBody>
      </p:sp>
      <p:sp>
        <p:nvSpPr>
          <p:cNvPr id="14" name="Text 11"/>
          <p:cNvSpPr/>
          <p:nvPr/>
        </p:nvSpPr>
        <p:spPr>
          <a:xfrm>
            <a:off x="5349240" y="2532888"/>
            <a:ext cx="3429000" cy="219456"/>
          </a:xfrm>
          <a:prstGeom prst="rect">
            <a:avLst/>
          </a:prstGeom>
          <a:noFill/>
          <a:ln/>
        </p:spPr>
        <p:txBody>
          <a:bodyPr wrap="square" lIns="0" tIns="0" rIns="0" bIns="0" rtlCol="0" anchor="ctr"/>
          <a:lstStyle/>
          <a:p>
            <a:pPr marL="0" indent="0">
              <a:buNone/>
            </a:pPr>
            <a:r>
              <a:rPr lang="en-US" sz="1200" b="1" dirty="0">
                <a:solidFill>
                  <a:srgbClr val="1A4731"/>
                </a:solidFill>
              </a:rPr>
              <a:t>LR ≈ azar</a:t>
            </a:r>
            <a:endParaRPr lang="en-US" sz="1200" dirty="0"/>
          </a:p>
        </p:txBody>
      </p:sp>
      <p:sp>
        <p:nvSpPr>
          <p:cNvPr id="15" name="Text 12"/>
          <p:cNvSpPr/>
          <p:nvPr/>
        </p:nvSpPr>
        <p:spPr>
          <a:xfrm>
            <a:off x="5349240" y="2770632"/>
            <a:ext cx="3429000" cy="320040"/>
          </a:xfrm>
          <a:prstGeom prst="rect">
            <a:avLst/>
          </a:prstGeom>
          <a:noFill/>
          <a:ln/>
        </p:spPr>
        <p:txBody>
          <a:bodyPr wrap="square" lIns="0" tIns="0" rIns="0" bIns="0" rtlCol="0" anchor="ctr"/>
          <a:lstStyle/>
          <a:p>
            <a:pPr marL="0" indent="0">
              <a:buNone/>
            </a:pPr>
            <a:r>
              <a:rPr lang="en-US" sz="1050" dirty="0">
                <a:solidFill>
                  <a:srgbClr val="64748B"/>
                </a:solidFill>
              </a:rPr>
              <a:t>Ninguna frontera lineal separa las clases con utilidad</a:t>
            </a:r>
            <a:endParaRPr lang="en-US" sz="1050" dirty="0"/>
          </a:p>
        </p:txBody>
      </p:sp>
      <p:sp>
        <p:nvSpPr>
          <p:cNvPr id="16" name="Shape 13"/>
          <p:cNvSpPr/>
          <p:nvPr/>
        </p:nvSpPr>
        <p:spPr>
          <a:xfrm>
            <a:off x="5212080" y="3273552"/>
            <a:ext cx="3657600" cy="658368"/>
          </a:xfrm>
          <a:prstGeom prst="rect">
            <a:avLst/>
          </a:prstGeom>
          <a:solidFill>
            <a:srgbClr val="F4F6FA"/>
          </a:solidFill>
          <a:ln/>
          <a:effectLst>
            <a:outerShdw blurRad="50800" dist="12700" dir="8100000" algn="bl" rotWithShape="0">
              <a:srgbClr val="000000">
                <a:alpha val="8000"/>
              </a:srgbClr>
            </a:outerShdw>
          </a:effectLst>
        </p:spPr>
        <p:txBody>
          <a:bodyPr/>
          <a:lstStyle/>
          <a:p>
            <a:endParaRPr lang="es-CL"/>
          </a:p>
        </p:txBody>
      </p:sp>
      <p:sp>
        <p:nvSpPr>
          <p:cNvPr id="17" name="Shape 14"/>
          <p:cNvSpPr/>
          <p:nvPr/>
        </p:nvSpPr>
        <p:spPr>
          <a:xfrm>
            <a:off x="5212080" y="3273552"/>
            <a:ext cx="54864" cy="658368"/>
          </a:xfrm>
          <a:prstGeom prst="rect">
            <a:avLst/>
          </a:prstGeom>
          <a:solidFill>
            <a:srgbClr val="2E7D52"/>
          </a:solidFill>
          <a:ln/>
        </p:spPr>
        <p:txBody>
          <a:bodyPr/>
          <a:lstStyle/>
          <a:p>
            <a:endParaRPr lang="es-CL"/>
          </a:p>
        </p:txBody>
      </p:sp>
      <p:sp>
        <p:nvSpPr>
          <p:cNvPr id="18" name="Text 15"/>
          <p:cNvSpPr/>
          <p:nvPr/>
        </p:nvSpPr>
        <p:spPr>
          <a:xfrm>
            <a:off x="5349240" y="3310128"/>
            <a:ext cx="3429000" cy="219456"/>
          </a:xfrm>
          <a:prstGeom prst="rect">
            <a:avLst/>
          </a:prstGeom>
          <a:noFill/>
          <a:ln/>
        </p:spPr>
        <p:txBody>
          <a:bodyPr wrap="square" lIns="0" tIns="0" rIns="0" bIns="0" rtlCol="0" anchor="ctr"/>
          <a:lstStyle/>
          <a:p>
            <a:pPr marL="0" indent="0">
              <a:buNone/>
            </a:pPr>
            <a:r>
              <a:rPr lang="en-US" sz="1200" b="1" dirty="0">
                <a:solidFill>
                  <a:srgbClr val="1A4731"/>
                </a:solidFill>
              </a:rPr>
              <a:t>Umbral 0.50</a:t>
            </a:r>
            <a:endParaRPr lang="en-US" sz="1200" dirty="0"/>
          </a:p>
        </p:txBody>
      </p:sp>
      <p:sp>
        <p:nvSpPr>
          <p:cNvPr id="19" name="Text 16"/>
          <p:cNvSpPr/>
          <p:nvPr/>
        </p:nvSpPr>
        <p:spPr>
          <a:xfrm>
            <a:off x="5349240" y="3547872"/>
            <a:ext cx="3429000" cy="320040"/>
          </a:xfrm>
          <a:prstGeom prst="rect">
            <a:avLst/>
          </a:prstGeom>
          <a:noFill/>
          <a:ln/>
        </p:spPr>
        <p:txBody>
          <a:bodyPr wrap="square" lIns="0" tIns="0" rIns="0" bIns="0" rtlCol="0" anchor="ctr"/>
          <a:lstStyle/>
          <a:p>
            <a:pPr marL="0" indent="0">
              <a:buNone/>
            </a:pPr>
            <a:r>
              <a:rPr lang="en-US" sz="1050" dirty="0">
                <a:solidFill>
                  <a:srgbClr val="64748B"/>
                </a:solidFill>
              </a:rPr>
              <a:t>Conservador: pierde 646 upgrades reales en cada ciclo</a:t>
            </a:r>
            <a:endParaRPr lang="en-US" sz="1050" dirty="0"/>
          </a:p>
        </p:txBody>
      </p:sp>
      <p:sp>
        <p:nvSpPr>
          <p:cNvPr id="20" name="Shape 17"/>
          <p:cNvSpPr/>
          <p:nvPr/>
        </p:nvSpPr>
        <p:spPr>
          <a:xfrm>
            <a:off x="5212080" y="4050792"/>
            <a:ext cx="3657600" cy="65836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s-CL"/>
          </a:p>
        </p:txBody>
      </p:sp>
      <p:sp>
        <p:nvSpPr>
          <p:cNvPr id="21" name="Shape 18"/>
          <p:cNvSpPr/>
          <p:nvPr/>
        </p:nvSpPr>
        <p:spPr>
          <a:xfrm>
            <a:off x="5212080" y="4050792"/>
            <a:ext cx="54864" cy="658368"/>
          </a:xfrm>
          <a:prstGeom prst="rect">
            <a:avLst/>
          </a:prstGeom>
          <a:solidFill>
            <a:srgbClr val="2E7D52"/>
          </a:solidFill>
          <a:ln/>
        </p:spPr>
        <p:txBody>
          <a:bodyPr/>
          <a:lstStyle/>
          <a:p>
            <a:endParaRPr lang="es-CL"/>
          </a:p>
        </p:txBody>
      </p:sp>
      <p:sp>
        <p:nvSpPr>
          <p:cNvPr id="22" name="Text 19"/>
          <p:cNvSpPr/>
          <p:nvPr/>
        </p:nvSpPr>
        <p:spPr>
          <a:xfrm>
            <a:off x="5349240" y="4087368"/>
            <a:ext cx="3429000" cy="219456"/>
          </a:xfrm>
          <a:prstGeom prst="rect">
            <a:avLst/>
          </a:prstGeom>
          <a:noFill/>
          <a:ln/>
        </p:spPr>
        <p:txBody>
          <a:bodyPr wrap="square" lIns="0" tIns="0" rIns="0" bIns="0" rtlCol="0" anchor="ctr"/>
          <a:lstStyle/>
          <a:p>
            <a:pPr marL="0" indent="0">
              <a:buNone/>
            </a:pPr>
            <a:r>
              <a:rPr lang="en-US" sz="1200" b="1" dirty="0">
                <a:solidFill>
                  <a:srgbClr val="1A4731"/>
                </a:solidFill>
              </a:rPr>
              <a:t>Prox. paso</a:t>
            </a:r>
            <a:endParaRPr lang="en-US" sz="1200" dirty="0"/>
          </a:p>
        </p:txBody>
      </p:sp>
      <p:sp>
        <p:nvSpPr>
          <p:cNvPr id="23" name="Text 20"/>
          <p:cNvSpPr/>
          <p:nvPr/>
        </p:nvSpPr>
        <p:spPr>
          <a:xfrm>
            <a:off x="5349240" y="4325112"/>
            <a:ext cx="3429000" cy="320040"/>
          </a:xfrm>
          <a:prstGeom prst="rect">
            <a:avLst/>
          </a:prstGeom>
          <a:noFill/>
          <a:ln/>
        </p:spPr>
        <p:txBody>
          <a:bodyPr wrap="square" lIns="0" tIns="0" rIns="0" bIns="0" rtlCol="0" anchor="ctr"/>
          <a:lstStyle/>
          <a:p>
            <a:pPr marL="0" indent="0">
              <a:buNone/>
            </a:pPr>
            <a:r>
              <a:rPr lang="en-US" sz="1050" dirty="0">
                <a:solidFill>
                  <a:srgbClr val="64748B"/>
                </a:solidFill>
              </a:rPr>
              <a:t>Optimización de HPs + ajuste de umbral para maximizar Recall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6B1A1A"/>
          </a:solidFill>
          <a:ln/>
        </p:spPr>
        <p:txBody>
          <a:bodyPr/>
          <a:lstStyle/>
          <a:p>
            <a:endParaRPr lang="es-CL"/>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200" b="1" dirty="0">
                <a:solidFill>
                  <a:srgbClr val="FFFFFF"/>
                </a:solidFill>
              </a:rPr>
              <a:t>PARTE 3 · Encar Portillo  ·  Notebook 6: Optimización de Hiperparámetros</a:t>
            </a:r>
            <a:endParaRPr lang="en-US" sz="12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marL="0" indent="0">
              <a:buNone/>
            </a:pPr>
            <a:r>
              <a:rPr lang="en-US" sz="2600" b="1" dirty="0">
                <a:solidFill>
                  <a:srgbClr val="1A1A2E"/>
                </a:solidFill>
              </a:rPr>
              <a:t>Proceso Iterativo: v1 → v4 (de Grid a Búsqueda Aleatoria)</a:t>
            </a:r>
            <a:endParaRPr lang="en-US" sz="2600" dirty="0"/>
          </a:p>
        </p:txBody>
      </p:sp>
      <p:sp>
        <p:nvSpPr>
          <p:cNvPr id="5" name="Shape 3"/>
          <p:cNvSpPr/>
          <p:nvPr/>
        </p:nvSpPr>
        <p:spPr>
          <a:xfrm>
            <a:off x="365760" y="1170432"/>
            <a:ext cx="8412480" cy="27432"/>
          </a:xfrm>
          <a:prstGeom prst="rect">
            <a:avLst/>
          </a:prstGeom>
          <a:solidFill>
            <a:srgbClr val="FADBD8"/>
          </a:solidFill>
          <a:ln/>
        </p:spPr>
        <p:txBody>
          <a:bodyPr/>
          <a:lstStyle/>
          <a:p>
            <a:endParaRPr lang="es-CL"/>
          </a:p>
        </p:txBody>
      </p:sp>
      <p:sp>
        <p:nvSpPr>
          <p:cNvPr id="6" name="Shape 4"/>
          <p:cNvSpPr/>
          <p:nvPr/>
        </p:nvSpPr>
        <p:spPr>
          <a:xfrm>
            <a:off x="256032" y="1298448"/>
            <a:ext cx="1993392" cy="2788920"/>
          </a:xfrm>
          <a:prstGeom prst="rect">
            <a:avLst/>
          </a:prstGeom>
          <a:solidFill>
            <a:srgbClr val="6C3483">
              <a:alpha val="10000"/>
            </a:srgbClr>
          </a:solidFill>
          <a:ln/>
        </p:spPr>
        <p:txBody>
          <a:bodyPr/>
          <a:lstStyle/>
          <a:p>
            <a:endParaRPr lang="es-CL"/>
          </a:p>
        </p:txBody>
      </p:sp>
      <p:sp>
        <p:nvSpPr>
          <p:cNvPr id="7" name="Shape 5"/>
          <p:cNvSpPr/>
          <p:nvPr/>
        </p:nvSpPr>
        <p:spPr>
          <a:xfrm>
            <a:off x="256032" y="1298448"/>
            <a:ext cx="1993392" cy="384048"/>
          </a:xfrm>
          <a:prstGeom prst="rect">
            <a:avLst/>
          </a:prstGeom>
          <a:solidFill>
            <a:srgbClr val="6C3483"/>
          </a:solidFill>
          <a:ln/>
        </p:spPr>
        <p:txBody>
          <a:bodyPr/>
          <a:lstStyle/>
          <a:p>
            <a:endParaRPr lang="es-CL"/>
          </a:p>
        </p:txBody>
      </p:sp>
      <p:sp>
        <p:nvSpPr>
          <p:cNvPr id="8" name="Text 6"/>
          <p:cNvSpPr/>
          <p:nvPr/>
        </p:nvSpPr>
        <p:spPr>
          <a:xfrm>
            <a:off x="256032" y="1298448"/>
            <a:ext cx="1993392" cy="384048"/>
          </a:xfrm>
          <a:prstGeom prst="rect">
            <a:avLst/>
          </a:prstGeom>
          <a:noFill/>
          <a:ln/>
        </p:spPr>
        <p:txBody>
          <a:bodyPr wrap="square" rtlCol="0" anchor="ctr"/>
          <a:lstStyle/>
          <a:p>
            <a:pPr marL="0" indent="0" algn="ctr">
              <a:buNone/>
            </a:pPr>
            <a:r>
              <a:rPr lang="en-US" sz="2000" b="1" dirty="0">
                <a:solidFill>
                  <a:srgbClr val="FFFFFF"/>
                </a:solidFill>
              </a:rPr>
              <a:t>v1</a:t>
            </a:r>
            <a:endParaRPr lang="en-US" sz="2000" dirty="0"/>
          </a:p>
        </p:txBody>
      </p:sp>
      <p:sp>
        <p:nvSpPr>
          <p:cNvPr id="9" name="Text 7"/>
          <p:cNvSpPr/>
          <p:nvPr/>
        </p:nvSpPr>
        <p:spPr>
          <a:xfrm>
            <a:off x="347472" y="1792224"/>
            <a:ext cx="1810512" cy="237744"/>
          </a:xfrm>
          <a:prstGeom prst="rect">
            <a:avLst/>
          </a:prstGeom>
          <a:noFill/>
          <a:ln/>
        </p:spPr>
        <p:txBody>
          <a:bodyPr wrap="square" lIns="0" tIns="0" rIns="0" bIns="0" rtlCol="0" anchor="ctr"/>
          <a:lstStyle/>
          <a:p>
            <a:pPr marL="0" indent="0">
              <a:buNone/>
            </a:pPr>
            <a:r>
              <a:rPr lang="en-US" sz="1050" b="1" dirty="0">
                <a:solidFill>
                  <a:srgbClr val="1A1A2E"/>
                </a:solidFill>
              </a:rPr>
              <a:t>GridSearchCV</a:t>
            </a:r>
            <a:endParaRPr lang="en-US" sz="1050" dirty="0"/>
          </a:p>
        </p:txBody>
      </p:sp>
      <p:sp>
        <p:nvSpPr>
          <p:cNvPr id="10" name="Text 8"/>
          <p:cNvSpPr/>
          <p:nvPr/>
        </p:nvSpPr>
        <p:spPr>
          <a:xfrm>
            <a:off x="347472" y="2048256"/>
            <a:ext cx="1810512" cy="219456"/>
          </a:xfrm>
          <a:prstGeom prst="rect">
            <a:avLst/>
          </a:prstGeom>
          <a:noFill/>
          <a:ln/>
        </p:spPr>
        <p:txBody>
          <a:bodyPr wrap="square" lIns="0" tIns="0" rIns="0" bIns="0" rtlCol="0" anchor="ctr"/>
          <a:lstStyle/>
          <a:p>
            <a:pPr marL="0" indent="0">
              <a:buNone/>
            </a:pPr>
            <a:r>
              <a:rPr lang="en-US" sz="1000" dirty="0">
                <a:solidFill>
                  <a:srgbClr val="64748B"/>
                </a:solidFill>
              </a:rPr>
              <a:t>288 combinaciones</a:t>
            </a:r>
            <a:endParaRPr lang="en-US" sz="1000" dirty="0"/>
          </a:p>
        </p:txBody>
      </p:sp>
      <p:sp>
        <p:nvSpPr>
          <p:cNvPr id="11" name="Text 9"/>
          <p:cNvSpPr/>
          <p:nvPr/>
        </p:nvSpPr>
        <p:spPr>
          <a:xfrm>
            <a:off x="347472" y="2286000"/>
            <a:ext cx="1810512" cy="219456"/>
          </a:xfrm>
          <a:prstGeom prst="rect">
            <a:avLst/>
          </a:prstGeom>
          <a:noFill/>
          <a:ln/>
        </p:spPr>
        <p:txBody>
          <a:bodyPr wrap="square" lIns="0" tIns="0" rIns="0" bIns="0" rtlCol="0" anchor="ctr"/>
          <a:lstStyle/>
          <a:p>
            <a:pPr marL="0" indent="0">
              <a:buNone/>
            </a:pPr>
            <a:r>
              <a:rPr lang="en-US" sz="1000" dirty="0">
                <a:solidFill>
                  <a:srgbClr val="64748B"/>
                </a:solidFill>
              </a:rPr>
              <a:t>Métrica: ROC-AUC</a:t>
            </a:r>
            <a:endParaRPr lang="en-US" sz="1000" dirty="0"/>
          </a:p>
        </p:txBody>
      </p:sp>
      <p:sp>
        <p:nvSpPr>
          <p:cNvPr id="12" name="Shape 10"/>
          <p:cNvSpPr/>
          <p:nvPr/>
        </p:nvSpPr>
        <p:spPr>
          <a:xfrm>
            <a:off x="347472" y="2578608"/>
            <a:ext cx="1810512" cy="347472"/>
          </a:xfrm>
          <a:prstGeom prst="rect">
            <a:avLst/>
          </a:prstGeom>
          <a:solidFill>
            <a:srgbClr val="6C3483">
              <a:alpha val="70000"/>
            </a:srgbClr>
          </a:solidFill>
          <a:ln/>
        </p:spPr>
        <p:txBody>
          <a:bodyPr/>
          <a:lstStyle/>
          <a:p>
            <a:endParaRPr lang="es-CL"/>
          </a:p>
        </p:txBody>
      </p:sp>
      <p:sp>
        <p:nvSpPr>
          <p:cNvPr id="13" name="Text 11"/>
          <p:cNvSpPr/>
          <p:nvPr/>
        </p:nvSpPr>
        <p:spPr>
          <a:xfrm>
            <a:off x="347472" y="2578608"/>
            <a:ext cx="1810512" cy="347472"/>
          </a:xfrm>
          <a:prstGeom prst="rect">
            <a:avLst/>
          </a:prstGeom>
          <a:noFill/>
          <a:ln/>
        </p:spPr>
        <p:txBody>
          <a:bodyPr wrap="square" rtlCol="0" anchor="ctr"/>
          <a:lstStyle/>
          <a:p>
            <a:pPr marL="0" indent="0" algn="ctr">
              <a:buNone/>
            </a:pPr>
            <a:r>
              <a:rPr lang="en-US" sz="1600" b="1" dirty="0">
                <a:solidFill>
                  <a:srgbClr val="FFFFFF"/>
                </a:solidFill>
              </a:rPr>
              <a:t>0.6094</a:t>
            </a:r>
            <a:endParaRPr lang="en-US" sz="1600" dirty="0"/>
          </a:p>
        </p:txBody>
      </p:sp>
      <p:sp>
        <p:nvSpPr>
          <p:cNvPr id="14" name="Text 12"/>
          <p:cNvSpPr/>
          <p:nvPr/>
        </p:nvSpPr>
        <p:spPr>
          <a:xfrm>
            <a:off x="347472" y="2999232"/>
            <a:ext cx="1810512" cy="914400"/>
          </a:xfrm>
          <a:prstGeom prst="rect">
            <a:avLst/>
          </a:prstGeom>
          <a:noFill/>
          <a:ln/>
        </p:spPr>
        <p:txBody>
          <a:bodyPr wrap="square" lIns="0" tIns="0" rIns="0" bIns="0" rtlCol="0" anchor="ctr"/>
          <a:lstStyle/>
          <a:p>
            <a:pPr marL="0" indent="0">
              <a:buNone/>
            </a:pPr>
            <a:r>
              <a:rPr lang="en-US" sz="900" dirty="0">
                <a:solidFill>
                  <a:srgbClr val="64748B"/>
                </a:solidFill>
              </a:rPr>
              <a:t>Dataset completo. class_weight='balanced'. Línea base. VN=723, FP=821, FN=603.</a:t>
            </a:r>
            <a:endParaRPr lang="en-US" sz="900" dirty="0"/>
          </a:p>
        </p:txBody>
      </p:sp>
      <p:sp>
        <p:nvSpPr>
          <p:cNvPr id="15" name="Shape 13"/>
          <p:cNvSpPr/>
          <p:nvPr/>
        </p:nvSpPr>
        <p:spPr>
          <a:xfrm>
            <a:off x="2423160" y="1298448"/>
            <a:ext cx="1993392" cy="2788920"/>
          </a:xfrm>
          <a:prstGeom prst="rect">
            <a:avLst/>
          </a:prstGeom>
          <a:solidFill>
            <a:srgbClr val="1A5276">
              <a:alpha val="10000"/>
            </a:srgbClr>
          </a:solidFill>
          <a:ln/>
        </p:spPr>
        <p:txBody>
          <a:bodyPr/>
          <a:lstStyle/>
          <a:p>
            <a:endParaRPr lang="es-CL"/>
          </a:p>
        </p:txBody>
      </p:sp>
      <p:sp>
        <p:nvSpPr>
          <p:cNvPr id="16" name="Shape 14"/>
          <p:cNvSpPr/>
          <p:nvPr/>
        </p:nvSpPr>
        <p:spPr>
          <a:xfrm>
            <a:off x="2423160" y="1298448"/>
            <a:ext cx="1993392" cy="384048"/>
          </a:xfrm>
          <a:prstGeom prst="rect">
            <a:avLst/>
          </a:prstGeom>
          <a:solidFill>
            <a:srgbClr val="1A5276"/>
          </a:solidFill>
          <a:ln/>
        </p:spPr>
        <p:txBody>
          <a:bodyPr/>
          <a:lstStyle/>
          <a:p>
            <a:endParaRPr lang="es-CL"/>
          </a:p>
        </p:txBody>
      </p:sp>
      <p:sp>
        <p:nvSpPr>
          <p:cNvPr id="17" name="Text 15"/>
          <p:cNvSpPr/>
          <p:nvPr/>
        </p:nvSpPr>
        <p:spPr>
          <a:xfrm>
            <a:off x="2423160" y="1298448"/>
            <a:ext cx="1993392" cy="384048"/>
          </a:xfrm>
          <a:prstGeom prst="rect">
            <a:avLst/>
          </a:prstGeom>
          <a:noFill/>
          <a:ln/>
        </p:spPr>
        <p:txBody>
          <a:bodyPr wrap="square" rtlCol="0" anchor="ctr"/>
          <a:lstStyle/>
          <a:p>
            <a:pPr marL="0" indent="0" algn="ctr">
              <a:buNone/>
            </a:pPr>
            <a:r>
              <a:rPr lang="en-US" sz="2000" b="1" dirty="0">
                <a:solidFill>
                  <a:srgbClr val="FFFFFF"/>
                </a:solidFill>
              </a:rPr>
              <a:t>v2</a:t>
            </a:r>
            <a:endParaRPr lang="en-US" sz="2000" dirty="0"/>
          </a:p>
        </p:txBody>
      </p:sp>
      <p:sp>
        <p:nvSpPr>
          <p:cNvPr id="18" name="Text 16"/>
          <p:cNvSpPr/>
          <p:nvPr/>
        </p:nvSpPr>
        <p:spPr>
          <a:xfrm>
            <a:off x="2514600" y="1792224"/>
            <a:ext cx="1810512" cy="237744"/>
          </a:xfrm>
          <a:prstGeom prst="rect">
            <a:avLst/>
          </a:prstGeom>
          <a:noFill/>
          <a:ln/>
        </p:spPr>
        <p:txBody>
          <a:bodyPr wrap="square" lIns="0" tIns="0" rIns="0" bIns="0" rtlCol="0" anchor="ctr"/>
          <a:lstStyle/>
          <a:p>
            <a:pPr marL="0" indent="0">
              <a:buNone/>
            </a:pPr>
            <a:r>
              <a:rPr lang="en-US" sz="1050" b="1" dirty="0">
                <a:solidFill>
                  <a:srgbClr val="1A1A2E"/>
                </a:solidFill>
              </a:rPr>
              <a:t>GridSearchCV</a:t>
            </a:r>
            <a:endParaRPr lang="en-US" sz="1050" dirty="0"/>
          </a:p>
        </p:txBody>
      </p:sp>
      <p:sp>
        <p:nvSpPr>
          <p:cNvPr id="19" name="Text 17"/>
          <p:cNvSpPr/>
          <p:nvPr/>
        </p:nvSpPr>
        <p:spPr>
          <a:xfrm>
            <a:off x="2514600" y="2048256"/>
            <a:ext cx="1810512" cy="219456"/>
          </a:xfrm>
          <a:prstGeom prst="rect">
            <a:avLst/>
          </a:prstGeom>
          <a:noFill/>
          <a:ln/>
        </p:spPr>
        <p:txBody>
          <a:bodyPr wrap="square" lIns="0" tIns="0" rIns="0" bIns="0" rtlCol="0" anchor="ctr"/>
          <a:lstStyle/>
          <a:p>
            <a:pPr marL="0" indent="0">
              <a:buNone/>
            </a:pPr>
            <a:r>
              <a:rPr lang="en-US" sz="1000" dirty="0">
                <a:solidFill>
                  <a:srgbClr val="64748B"/>
                </a:solidFill>
              </a:rPr>
              <a:t>144 combinaciones</a:t>
            </a:r>
            <a:endParaRPr lang="en-US" sz="1000" dirty="0"/>
          </a:p>
        </p:txBody>
      </p:sp>
      <p:sp>
        <p:nvSpPr>
          <p:cNvPr id="20" name="Text 18"/>
          <p:cNvSpPr/>
          <p:nvPr/>
        </p:nvSpPr>
        <p:spPr>
          <a:xfrm>
            <a:off x="2514600" y="2286000"/>
            <a:ext cx="1810512" cy="219456"/>
          </a:xfrm>
          <a:prstGeom prst="rect">
            <a:avLst/>
          </a:prstGeom>
          <a:noFill/>
          <a:ln/>
        </p:spPr>
        <p:txBody>
          <a:bodyPr wrap="square" lIns="0" tIns="0" rIns="0" bIns="0" rtlCol="0" anchor="ctr"/>
          <a:lstStyle/>
          <a:p>
            <a:pPr marL="0" indent="0">
              <a:buNone/>
            </a:pPr>
            <a:r>
              <a:rPr lang="en-US" sz="1000" dirty="0">
                <a:solidFill>
                  <a:srgbClr val="64748B"/>
                </a:solidFill>
              </a:rPr>
              <a:t>Métrica: ROC-AUC</a:t>
            </a:r>
            <a:endParaRPr lang="en-US" sz="1000" dirty="0"/>
          </a:p>
        </p:txBody>
      </p:sp>
      <p:sp>
        <p:nvSpPr>
          <p:cNvPr id="21" name="Shape 19"/>
          <p:cNvSpPr/>
          <p:nvPr/>
        </p:nvSpPr>
        <p:spPr>
          <a:xfrm>
            <a:off x="2514600" y="2578608"/>
            <a:ext cx="1810512" cy="347472"/>
          </a:xfrm>
          <a:prstGeom prst="rect">
            <a:avLst/>
          </a:prstGeom>
          <a:solidFill>
            <a:srgbClr val="1A5276">
              <a:alpha val="70000"/>
            </a:srgbClr>
          </a:solidFill>
          <a:ln/>
        </p:spPr>
        <p:txBody>
          <a:bodyPr/>
          <a:lstStyle/>
          <a:p>
            <a:endParaRPr lang="es-CL"/>
          </a:p>
        </p:txBody>
      </p:sp>
      <p:sp>
        <p:nvSpPr>
          <p:cNvPr id="22" name="Text 20"/>
          <p:cNvSpPr/>
          <p:nvPr/>
        </p:nvSpPr>
        <p:spPr>
          <a:xfrm>
            <a:off x="2514600" y="2578608"/>
            <a:ext cx="1810512" cy="347472"/>
          </a:xfrm>
          <a:prstGeom prst="rect">
            <a:avLst/>
          </a:prstGeom>
          <a:noFill/>
          <a:ln/>
        </p:spPr>
        <p:txBody>
          <a:bodyPr wrap="square" rtlCol="0" anchor="ctr"/>
          <a:lstStyle/>
          <a:p>
            <a:pPr marL="0" indent="0" algn="ctr">
              <a:buNone/>
            </a:pPr>
            <a:r>
              <a:rPr lang="en-US" sz="1600" b="1" dirty="0">
                <a:solidFill>
                  <a:srgbClr val="FFFFFF"/>
                </a:solidFill>
              </a:rPr>
              <a:t>0.6059</a:t>
            </a:r>
            <a:endParaRPr lang="en-US" sz="1600" dirty="0"/>
          </a:p>
        </p:txBody>
      </p:sp>
      <p:sp>
        <p:nvSpPr>
          <p:cNvPr id="23" name="Text 21"/>
          <p:cNvSpPr/>
          <p:nvPr/>
        </p:nvSpPr>
        <p:spPr>
          <a:xfrm>
            <a:off x="2514600" y="2999232"/>
            <a:ext cx="1810512" cy="914400"/>
          </a:xfrm>
          <a:prstGeom prst="rect">
            <a:avLst/>
          </a:prstGeom>
          <a:noFill/>
          <a:ln/>
        </p:spPr>
        <p:txBody>
          <a:bodyPr wrap="square" lIns="0" tIns="0" rIns="0" bIns="0" rtlCol="0" anchor="ctr"/>
          <a:lstStyle/>
          <a:p>
            <a:pPr marL="0" indent="0">
              <a:buNone/>
            </a:pPr>
            <a:r>
              <a:rPr lang="en-US" sz="900" dirty="0">
                <a:solidFill>
                  <a:srgbClr val="64748B"/>
                </a:solidFill>
              </a:rPr>
              <a:t>6 variables comportamiento. max_depth≤12. VN=878, FP=666, FN=730.</a:t>
            </a:r>
            <a:endParaRPr lang="en-US" sz="900" dirty="0"/>
          </a:p>
        </p:txBody>
      </p:sp>
      <p:sp>
        <p:nvSpPr>
          <p:cNvPr id="24" name="Shape 22"/>
          <p:cNvSpPr/>
          <p:nvPr/>
        </p:nvSpPr>
        <p:spPr>
          <a:xfrm>
            <a:off x="4590288" y="1298448"/>
            <a:ext cx="1993392" cy="2788920"/>
          </a:xfrm>
          <a:prstGeom prst="rect">
            <a:avLst/>
          </a:prstGeom>
          <a:solidFill>
            <a:srgbClr val="145A32">
              <a:alpha val="10000"/>
            </a:srgbClr>
          </a:solidFill>
          <a:ln/>
        </p:spPr>
        <p:txBody>
          <a:bodyPr/>
          <a:lstStyle/>
          <a:p>
            <a:endParaRPr lang="es-CL"/>
          </a:p>
        </p:txBody>
      </p:sp>
      <p:sp>
        <p:nvSpPr>
          <p:cNvPr id="25" name="Shape 23"/>
          <p:cNvSpPr/>
          <p:nvPr/>
        </p:nvSpPr>
        <p:spPr>
          <a:xfrm>
            <a:off x="4590288" y="1298448"/>
            <a:ext cx="1993392" cy="384048"/>
          </a:xfrm>
          <a:prstGeom prst="rect">
            <a:avLst/>
          </a:prstGeom>
          <a:solidFill>
            <a:srgbClr val="145A32"/>
          </a:solidFill>
          <a:ln/>
        </p:spPr>
        <p:txBody>
          <a:bodyPr/>
          <a:lstStyle/>
          <a:p>
            <a:endParaRPr lang="es-CL"/>
          </a:p>
        </p:txBody>
      </p:sp>
      <p:sp>
        <p:nvSpPr>
          <p:cNvPr id="26" name="Text 24"/>
          <p:cNvSpPr/>
          <p:nvPr/>
        </p:nvSpPr>
        <p:spPr>
          <a:xfrm>
            <a:off x="4590288" y="1298448"/>
            <a:ext cx="1993392" cy="384048"/>
          </a:xfrm>
          <a:prstGeom prst="rect">
            <a:avLst/>
          </a:prstGeom>
          <a:noFill/>
          <a:ln/>
        </p:spPr>
        <p:txBody>
          <a:bodyPr wrap="square" rtlCol="0" anchor="ctr"/>
          <a:lstStyle/>
          <a:p>
            <a:pPr marL="0" indent="0" algn="ctr">
              <a:buNone/>
            </a:pPr>
            <a:r>
              <a:rPr lang="en-US" sz="2000" b="1" dirty="0">
                <a:solidFill>
                  <a:srgbClr val="FFFFFF"/>
                </a:solidFill>
              </a:rPr>
              <a:t>v3</a:t>
            </a:r>
            <a:endParaRPr lang="en-US" sz="2000" dirty="0"/>
          </a:p>
        </p:txBody>
      </p:sp>
      <p:sp>
        <p:nvSpPr>
          <p:cNvPr id="27" name="Text 25"/>
          <p:cNvSpPr/>
          <p:nvPr/>
        </p:nvSpPr>
        <p:spPr>
          <a:xfrm>
            <a:off x="4681728" y="1792224"/>
            <a:ext cx="1810512" cy="237744"/>
          </a:xfrm>
          <a:prstGeom prst="rect">
            <a:avLst/>
          </a:prstGeom>
          <a:noFill/>
          <a:ln/>
        </p:spPr>
        <p:txBody>
          <a:bodyPr wrap="square" lIns="0" tIns="0" rIns="0" bIns="0" rtlCol="0" anchor="ctr"/>
          <a:lstStyle/>
          <a:p>
            <a:pPr marL="0" indent="0">
              <a:buNone/>
            </a:pPr>
            <a:r>
              <a:rPr lang="en-US" sz="1050" b="1" dirty="0">
                <a:solidFill>
                  <a:srgbClr val="1A1A2E"/>
                </a:solidFill>
              </a:rPr>
              <a:t>GridSearchCV</a:t>
            </a:r>
            <a:endParaRPr lang="en-US" sz="1050" dirty="0"/>
          </a:p>
        </p:txBody>
      </p:sp>
      <p:sp>
        <p:nvSpPr>
          <p:cNvPr id="28" name="Text 26"/>
          <p:cNvSpPr/>
          <p:nvPr/>
        </p:nvSpPr>
        <p:spPr>
          <a:xfrm>
            <a:off x="4681728" y="2048256"/>
            <a:ext cx="1810512" cy="219456"/>
          </a:xfrm>
          <a:prstGeom prst="rect">
            <a:avLst/>
          </a:prstGeom>
          <a:noFill/>
          <a:ln/>
        </p:spPr>
        <p:txBody>
          <a:bodyPr wrap="square" lIns="0" tIns="0" rIns="0" bIns="0" rtlCol="0" anchor="ctr"/>
          <a:lstStyle/>
          <a:p>
            <a:pPr marL="0" indent="0">
              <a:buNone/>
            </a:pPr>
            <a:r>
              <a:rPr lang="en-US" sz="1000" dirty="0">
                <a:solidFill>
                  <a:srgbClr val="64748B"/>
                </a:solidFill>
              </a:rPr>
              <a:t>96 combinaciones</a:t>
            </a:r>
            <a:endParaRPr lang="en-US" sz="1000" dirty="0"/>
          </a:p>
        </p:txBody>
      </p:sp>
      <p:sp>
        <p:nvSpPr>
          <p:cNvPr id="29" name="Text 27"/>
          <p:cNvSpPr/>
          <p:nvPr/>
        </p:nvSpPr>
        <p:spPr>
          <a:xfrm>
            <a:off x="4681728" y="2286000"/>
            <a:ext cx="1810512" cy="219456"/>
          </a:xfrm>
          <a:prstGeom prst="rect">
            <a:avLst/>
          </a:prstGeom>
          <a:noFill/>
          <a:ln/>
        </p:spPr>
        <p:txBody>
          <a:bodyPr wrap="square" lIns="0" tIns="0" rIns="0" bIns="0" rtlCol="0" anchor="ctr"/>
          <a:lstStyle/>
          <a:p>
            <a:pPr marL="0" indent="0">
              <a:buNone/>
            </a:pPr>
            <a:r>
              <a:rPr lang="en-US" sz="1000" dirty="0">
                <a:solidFill>
                  <a:srgbClr val="64748B"/>
                </a:solidFill>
              </a:rPr>
              <a:t>Métrica: ROC-AUC</a:t>
            </a:r>
            <a:endParaRPr lang="en-US" sz="1000" dirty="0"/>
          </a:p>
        </p:txBody>
      </p:sp>
      <p:sp>
        <p:nvSpPr>
          <p:cNvPr id="30" name="Shape 28"/>
          <p:cNvSpPr/>
          <p:nvPr/>
        </p:nvSpPr>
        <p:spPr>
          <a:xfrm>
            <a:off x="4681728" y="2578608"/>
            <a:ext cx="1810512" cy="347472"/>
          </a:xfrm>
          <a:prstGeom prst="rect">
            <a:avLst/>
          </a:prstGeom>
          <a:solidFill>
            <a:srgbClr val="145A32">
              <a:alpha val="70000"/>
            </a:srgbClr>
          </a:solidFill>
          <a:ln/>
        </p:spPr>
        <p:txBody>
          <a:bodyPr/>
          <a:lstStyle/>
          <a:p>
            <a:endParaRPr lang="es-CL"/>
          </a:p>
        </p:txBody>
      </p:sp>
      <p:sp>
        <p:nvSpPr>
          <p:cNvPr id="31" name="Text 29"/>
          <p:cNvSpPr/>
          <p:nvPr/>
        </p:nvSpPr>
        <p:spPr>
          <a:xfrm>
            <a:off x="4681728" y="2578608"/>
            <a:ext cx="1810512" cy="347472"/>
          </a:xfrm>
          <a:prstGeom prst="rect">
            <a:avLst/>
          </a:prstGeom>
          <a:noFill/>
          <a:ln/>
        </p:spPr>
        <p:txBody>
          <a:bodyPr wrap="square" rtlCol="0" anchor="ctr"/>
          <a:lstStyle/>
          <a:p>
            <a:pPr marL="0" indent="0" algn="ctr">
              <a:buNone/>
            </a:pPr>
            <a:r>
              <a:rPr lang="en-US" sz="1600" b="1" dirty="0">
                <a:solidFill>
                  <a:srgbClr val="FFFFFF"/>
                </a:solidFill>
              </a:rPr>
              <a:t>0.6146</a:t>
            </a:r>
            <a:endParaRPr lang="en-US" sz="1600" dirty="0"/>
          </a:p>
        </p:txBody>
      </p:sp>
      <p:sp>
        <p:nvSpPr>
          <p:cNvPr id="32" name="Text 30"/>
          <p:cNvSpPr/>
          <p:nvPr/>
        </p:nvSpPr>
        <p:spPr>
          <a:xfrm>
            <a:off x="4681728" y="2999232"/>
            <a:ext cx="1810512" cy="914400"/>
          </a:xfrm>
          <a:prstGeom prst="rect">
            <a:avLst/>
          </a:prstGeom>
          <a:noFill/>
          <a:ln/>
        </p:spPr>
        <p:txBody>
          <a:bodyPr wrap="square" lIns="0" tIns="0" rIns="0" bIns="0" rtlCol="0" anchor="ctr"/>
          <a:lstStyle/>
          <a:p>
            <a:pPr marL="0" indent="0">
              <a:buNone/>
            </a:pPr>
            <a:r>
              <a:rPr lang="en-US" sz="900" dirty="0">
                <a:solidFill>
                  <a:srgbClr val="64748B"/>
                </a:solidFill>
              </a:rPr>
              <a:t>Clase positiva invertida (Anual=1). max_features=0.5. 500 árboles.</a:t>
            </a:r>
            <a:endParaRPr lang="en-US" sz="900" dirty="0"/>
          </a:p>
        </p:txBody>
      </p:sp>
      <p:sp>
        <p:nvSpPr>
          <p:cNvPr id="33" name="Shape 31"/>
          <p:cNvSpPr/>
          <p:nvPr/>
        </p:nvSpPr>
        <p:spPr>
          <a:xfrm>
            <a:off x="6757416" y="1298448"/>
            <a:ext cx="1993392" cy="2788920"/>
          </a:xfrm>
          <a:prstGeom prst="rect">
            <a:avLst/>
          </a:prstGeom>
          <a:solidFill>
            <a:srgbClr val="C0392B">
              <a:alpha val="10000"/>
            </a:srgbClr>
          </a:solidFill>
          <a:ln/>
        </p:spPr>
        <p:txBody>
          <a:bodyPr/>
          <a:lstStyle/>
          <a:p>
            <a:endParaRPr lang="es-CL"/>
          </a:p>
        </p:txBody>
      </p:sp>
      <p:sp>
        <p:nvSpPr>
          <p:cNvPr id="34" name="Shape 32"/>
          <p:cNvSpPr/>
          <p:nvPr/>
        </p:nvSpPr>
        <p:spPr>
          <a:xfrm>
            <a:off x="6757416" y="1298448"/>
            <a:ext cx="1993392" cy="384048"/>
          </a:xfrm>
          <a:prstGeom prst="rect">
            <a:avLst/>
          </a:prstGeom>
          <a:solidFill>
            <a:srgbClr val="C0392B"/>
          </a:solidFill>
          <a:ln/>
        </p:spPr>
        <p:txBody>
          <a:bodyPr/>
          <a:lstStyle/>
          <a:p>
            <a:endParaRPr lang="es-CL"/>
          </a:p>
        </p:txBody>
      </p:sp>
      <p:sp>
        <p:nvSpPr>
          <p:cNvPr id="35" name="Text 33"/>
          <p:cNvSpPr/>
          <p:nvPr/>
        </p:nvSpPr>
        <p:spPr>
          <a:xfrm>
            <a:off x="6757416" y="1298448"/>
            <a:ext cx="1993392" cy="384048"/>
          </a:xfrm>
          <a:prstGeom prst="rect">
            <a:avLst/>
          </a:prstGeom>
          <a:noFill/>
          <a:ln/>
        </p:spPr>
        <p:txBody>
          <a:bodyPr wrap="square" rtlCol="0" anchor="ctr"/>
          <a:lstStyle/>
          <a:p>
            <a:pPr marL="0" indent="0" algn="ctr">
              <a:buNone/>
            </a:pPr>
            <a:r>
              <a:rPr lang="en-US" sz="2000" b="1" dirty="0">
                <a:solidFill>
                  <a:srgbClr val="FFFFFF"/>
                </a:solidFill>
              </a:rPr>
              <a:t>v4</a:t>
            </a:r>
            <a:endParaRPr lang="en-US" sz="2000" dirty="0"/>
          </a:p>
        </p:txBody>
      </p:sp>
      <p:sp>
        <p:nvSpPr>
          <p:cNvPr id="36" name="Text 34"/>
          <p:cNvSpPr/>
          <p:nvPr/>
        </p:nvSpPr>
        <p:spPr>
          <a:xfrm>
            <a:off x="6848856" y="1792224"/>
            <a:ext cx="1810512" cy="237744"/>
          </a:xfrm>
          <a:prstGeom prst="rect">
            <a:avLst/>
          </a:prstGeom>
          <a:noFill/>
          <a:ln/>
        </p:spPr>
        <p:txBody>
          <a:bodyPr wrap="square" lIns="0" tIns="0" rIns="0" bIns="0" rtlCol="0" anchor="ctr"/>
          <a:lstStyle/>
          <a:p>
            <a:pPr marL="0" indent="0">
              <a:buNone/>
            </a:pPr>
            <a:r>
              <a:rPr lang="en-US" sz="1050" b="1" dirty="0">
                <a:solidFill>
                  <a:srgbClr val="1A1A2E"/>
                </a:solidFill>
              </a:rPr>
              <a:t>RandomizedSearch</a:t>
            </a:r>
            <a:endParaRPr lang="en-US" sz="1050" dirty="0"/>
          </a:p>
        </p:txBody>
      </p:sp>
      <p:sp>
        <p:nvSpPr>
          <p:cNvPr id="37" name="Text 35"/>
          <p:cNvSpPr/>
          <p:nvPr/>
        </p:nvSpPr>
        <p:spPr>
          <a:xfrm>
            <a:off x="6848856" y="2048256"/>
            <a:ext cx="1810512" cy="219456"/>
          </a:xfrm>
          <a:prstGeom prst="rect">
            <a:avLst/>
          </a:prstGeom>
          <a:noFill/>
          <a:ln/>
        </p:spPr>
        <p:txBody>
          <a:bodyPr wrap="square" lIns="0" tIns="0" rIns="0" bIns="0" rtlCol="0" anchor="ctr"/>
          <a:lstStyle/>
          <a:p>
            <a:pPr marL="0" indent="0">
              <a:buNone/>
            </a:pPr>
            <a:r>
              <a:rPr lang="en-US" sz="1000" dirty="0">
                <a:solidFill>
                  <a:srgbClr val="64748B"/>
                </a:solidFill>
              </a:rPr>
              <a:t>30 de 4.320</a:t>
            </a:r>
            <a:endParaRPr lang="en-US" sz="1000" dirty="0"/>
          </a:p>
        </p:txBody>
      </p:sp>
      <p:sp>
        <p:nvSpPr>
          <p:cNvPr id="38" name="Text 36"/>
          <p:cNvSpPr/>
          <p:nvPr/>
        </p:nvSpPr>
        <p:spPr>
          <a:xfrm>
            <a:off x="6848856" y="2286000"/>
            <a:ext cx="1810512" cy="219456"/>
          </a:xfrm>
          <a:prstGeom prst="rect">
            <a:avLst/>
          </a:prstGeom>
          <a:noFill/>
          <a:ln/>
        </p:spPr>
        <p:txBody>
          <a:bodyPr wrap="square" lIns="0" tIns="0" rIns="0" bIns="0" rtlCol="0" anchor="ctr"/>
          <a:lstStyle/>
          <a:p>
            <a:pPr marL="0" indent="0">
              <a:buNone/>
            </a:pPr>
            <a:r>
              <a:rPr lang="en-US" sz="1000" dirty="0">
                <a:solidFill>
                  <a:srgbClr val="64748B"/>
                </a:solidFill>
              </a:rPr>
              <a:t>Métrica: Avg. Prec.</a:t>
            </a:r>
            <a:endParaRPr lang="en-US" sz="1000" dirty="0"/>
          </a:p>
        </p:txBody>
      </p:sp>
      <p:sp>
        <p:nvSpPr>
          <p:cNvPr id="39" name="Shape 37"/>
          <p:cNvSpPr/>
          <p:nvPr/>
        </p:nvSpPr>
        <p:spPr>
          <a:xfrm>
            <a:off x="6848856" y="2578608"/>
            <a:ext cx="1810512" cy="347472"/>
          </a:xfrm>
          <a:prstGeom prst="rect">
            <a:avLst/>
          </a:prstGeom>
          <a:solidFill>
            <a:srgbClr val="C0392B"/>
          </a:solidFill>
          <a:ln/>
        </p:spPr>
        <p:txBody>
          <a:bodyPr/>
          <a:lstStyle/>
          <a:p>
            <a:endParaRPr lang="es-CL"/>
          </a:p>
        </p:txBody>
      </p:sp>
      <p:sp>
        <p:nvSpPr>
          <p:cNvPr id="40" name="Text 38"/>
          <p:cNvSpPr/>
          <p:nvPr/>
        </p:nvSpPr>
        <p:spPr>
          <a:xfrm>
            <a:off x="6848856" y="2578608"/>
            <a:ext cx="1810512" cy="347472"/>
          </a:xfrm>
          <a:prstGeom prst="rect">
            <a:avLst/>
          </a:prstGeom>
          <a:noFill/>
          <a:ln/>
        </p:spPr>
        <p:txBody>
          <a:bodyPr wrap="square" rtlCol="0" anchor="ctr"/>
          <a:lstStyle/>
          <a:p>
            <a:pPr marL="0" indent="0" algn="ctr">
              <a:buNone/>
            </a:pPr>
            <a:r>
              <a:rPr lang="en-US" sz="1600" b="1" dirty="0">
                <a:solidFill>
                  <a:srgbClr val="FFFFFF"/>
                </a:solidFill>
              </a:rPr>
              <a:t>0.6594</a:t>
            </a:r>
            <a:endParaRPr lang="en-US" sz="1600" dirty="0"/>
          </a:p>
        </p:txBody>
      </p:sp>
      <p:sp>
        <p:nvSpPr>
          <p:cNvPr id="41" name="Text 39"/>
          <p:cNvSpPr/>
          <p:nvPr/>
        </p:nvSpPr>
        <p:spPr>
          <a:xfrm>
            <a:off x="6848856" y="2999232"/>
            <a:ext cx="1810512" cy="914400"/>
          </a:xfrm>
          <a:prstGeom prst="rect">
            <a:avLst/>
          </a:prstGeom>
          <a:noFill/>
          <a:ln/>
        </p:spPr>
        <p:txBody>
          <a:bodyPr wrap="square" lIns="0" tIns="0" rIns="0" bIns="0" rtlCol="0" anchor="ctr"/>
          <a:lstStyle/>
          <a:p>
            <a:pPr marL="0" indent="0">
              <a:buNone/>
            </a:pPr>
            <a:r>
              <a:rPr lang="en-US" sz="900" dirty="0">
                <a:solidFill>
                  <a:srgbClr val="64748B"/>
                </a:solidFill>
              </a:rPr>
              <a:t>criterion='entropy', ccp_alpha=0.0001. AP supera a ROC-AUC como métrica.</a:t>
            </a:r>
            <a:endParaRPr lang="en-US" sz="900" dirty="0"/>
          </a:p>
        </p:txBody>
      </p:sp>
      <p:sp>
        <p:nvSpPr>
          <p:cNvPr id="42" name="Text 40"/>
          <p:cNvSpPr/>
          <p:nvPr/>
        </p:nvSpPr>
        <p:spPr>
          <a:xfrm>
            <a:off x="2148840" y="2651760"/>
            <a:ext cx="201168" cy="237744"/>
          </a:xfrm>
          <a:prstGeom prst="rect">
            <a:avLst/>
          </a:prstGeom>
          <a:noFill/>
          <a:ln/>
        </p:spPr>
        <p:txBody>
          <a:bodyPr wrap="square" rtlCol="0" anchor="ctr"/>
          <a:lstStyle/>
          <a:p>
            <a:pPr marL="0" indent="0" algn="ctr">
              <a:buNone/>
            </a:pPr>
            <a:r>
              <a:rPr lang="en-US" sz="1300" b="1" dirty="0">
                <a:solidFill>
                  <a:srgbClr val="C0392B"/>
                </a:solidFill>
              </a:rPr>
              <a:t>→</a:t>
            </a:r>
            <a:endParaRPr lang="en-US" sz="1300" dirty="0"/>
          </a:p>
        </p:txBody>
      </p:sp>
      <p:sp>
        <p:nvSpPr>
          <p:cNvPr id="43" name="Text 41"/>
          <p:cNvSpPr/>
          <p:nvPr/>
        </p:nvSpPr>
        <p:spPr>
          <a:xfrm>
            <a:off x="4315968" y="2651760"/>
            <a:ext cx="201168" cy="237744"/>
          </a:xfrm>
          <a:prstGeom prst="rect">
            <a:avLst/>
          </a:prstGeom>
          <a:noFill/>
          <a:ln/>
        </p:spPr>
        <p:txBody>
          <a:bodyPr wrap="square" rtlCol="0" anchor="ctr"/>
          <a:lstStyle/>
          <a:p>
            <a:pPr marL="0" indent="0" algn="ctr">
              <a:buNone/>
            </a:pPr>
            <a:r>
              <a:rPr lang="en-US" sz="1300" b="1" dirty="0">
                <a:solidFill>
                  <a:srgbClr val="C0392B"/>
                </a:solidFill>
              </a:rPr>
              <a:t>→</a:t>
            </a:r>
            <a:endParaRPr lang="en-US" sz="1300" dirty="0"/>
          </a:p>
        </p:txBody>
      </p:sp>
      <p:sp>
        <p:nvSpPr>
          <p:cNvPr id="44" name="Text 42"/>
          <p:cNvSpPr/>
          <p:nvPr/>
        </p:nvSpPr>
        <p:spPr>
          <a:xfrm>
            <a:off x="6483096" y="2651760"/>
            <a:ext cx="201168" cy="237744"/>
          </a:xfrm>
          <a:prstGeom prst="rect">
            <a:avLst/>
          </a:prstGeom>
          <a:noFill/>
          <a:ln/>
        </p:spPr>
        <p:txBody>
          <a:bodyPr wrap="square" rtlCol="0" anchor="ctr"/>
          <a:lstStyle/>
          <a:p>
            <a:pPr marL="0" indent="0" algn="ctr">
              <a:buNone/>
            </a:pPr>
            <a:r>
              <a:rPr lang="en-US" sz="1300" b="1" dirty="0">
                <a:solidFill>
                  <a:srgbClr val="C0392B"/>
                </a:solidFill>
              </a:rPr>
              <a:t>→</a:t>
            </a:r>
            <a:endParaRPr lang="en-US" sz="1300" dirty="0"/>
          </a:p>
        </p:txBody>
      </p:sp>
      <p:sp>
        <p:nvSpPr>
          <p:cNvPr id="45" name="Shape 43"/>
          <p:cNvSpPr/>
          <p:nvPr/>
        </p:nvSpPr>
        <p:spPr>
          <a:xfrm>
            <a:off x="256032" y="4160520"/>
            <a:ext cx="8631936" cy="713232"/>
          </a:xfrm>
          <a:prstGeom prst="rect">
            <a:avLst/>
          </a:prstGeom>
          <a:solidFill>
            <a:srgbClr val="F4F6FA"/>
          </a:solidFill>
          <a:ln/>
        </p:spPr>
        <p:txBody>
          <a:bodyPr/>
          <a:lstStyle/>
          <a:p>
            <a:endParaRPr lang="es-CL"/>
          </a:p>
        </p:txBody>
      </p:sp>
      <p:sp>
        <p:nvSpPr>
          <p:cNvPr id="46" name="Shape 44"/>
          <p:cNvSpPr/>
          <p:nvPr/>
        </p:nvSpPr>
        <p:spPr>
          <a:xfrm>
            <a:off x="256032" y="4160520"/>
            <a:ext cx="64008" cy="713232"/>
          </a:xfrm>
          <a:prstGeom prst="rect">
            <a:avLst/>
          </a:prstGeom>
          <a:solidFill>
            <a:srgbClr val="C0392B"/>
          </a:solidFill>
          <a:ln/>
        </p:spPr>
        <p:txBody>
          <a:bodyPr/>
          <a:lstStyle/>
          <a:p>
            <a:endParaRPr lang="es-CL"/>
          </a:p>
        </p:txBody>
      </p:sp>
      <p:sp>
        <p:nvSpPr>
          <p:cNvPr id="47" name="Text 45"/>
          <p:cNvSpPr/>
          <p:nvPr/>
        </p:nvSpPr>
        <p:spPr>
          <a:xfrm>
            <a:off x="411480" y="4206240"/>
            <a:ext cx="8321040" cy="621792"/>
          </a:xfrm>
          <a:prstGeom prst="rect">
            <a:avLst/>
          </a:prstGeom>
          <a:noFill/>
          <a:ln/>
        </p:spPr>
        <p:txBody>
          <a:bodyPr wrap="square" rtlCol="0" anchor="ctr"/>
          <a:lstStyle/>
          <a:p>
            <a:pPr marL="0" indent="0">
              <a:buNone/>
            </a:pPr>
            <a:r>
              <a:rPr lang="en-US" sz="1100" dirty="0">
                <a:solidFill>
                  <a:srgbClr val="1A1A2E"/>
                </a:solidFill>
              </a:rPr>
              <a:t>Cambio decisivo v4: Average Precision penaliza predecir todos como positivos (Recall trivial). ROC-AUC sube de 0.6146 → 0.6322; AP sube de ~0.64 → 0.6594. Próximo paso: Feature Engineering en v5.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6B1A1A"/>
          </a:solidFill>
          <a:ln/>
        </p:spPr>
        <p:txBody>
          <a:bodyPr/>
          <a:lstStyle/>
          <a:p>
            <a:endParaRPr lang="es-CL"/>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200" b="1" dirty="0">
                <a:solidFill>
                  <a:srgbClr val="FFFFFF"/>
                </a:solidFill>
              </a:rPr>
              <a:t>PARTE 3 · Encar Portillo  ·  Notebook 6: Optimización de Hiperparámetros</a:t>
            </a:r>
            <a:endParaRPr lang="en-US" sz="1200" dirty="0"/>
          </a:p>
        </p:txBody>
      </p:sp>
      <p:sp>
        <p:nvSpPr>
          <p:cNvPr id="4" name="Text 2"/>
          <p:cNvSpPr/>
          <p:nvPr/>
        </p:nvSpPr>
        <p:spPr>
          <a:xfrm>
            <a:off x="365760" y="594360"/>
            <a:ext cx="8412480" cy="502920"/>
          </a:xfrm>
          <a:prstGeom prst="rect">
            <a:avLst/>
          </a:prstGeom>
          <a:noFill/>
          <a:ln/>
        </p:spPr>
        <p:txBody>
          <a:bodyPr wrap="square" lIns="0" tIns="0" rIns="0" bIns="0" rtlCol="0" anchor="ctr"/>
          <a:lstStyle/>
          <a:p>
            <a:pPr marL="0" indent="0">
              <a:buNone/>
            </a:pPr>
            <a:r>
              <a:rPr lang="en-US" sz="2600" b="1" dirty="0">
                <a:solidFill>
                  <a:srgbClr val="1A1A2E"/>
                </a:solidFill>
              </a:rPr>
              <a:t>v5: Feature Engineering — Construir Señal donde no Hay Variables</a:t>
            </a:r>
            <a:endParaRPr lang="en-US" sz="2600" dirty="0"/>
          </a:p>
        </p:txBody>
      </p:sp>
      <p:sp>
        <p:nvSpPr>
          <p:cNvPr id="5" name="Shape 3"/>
          <p:cNvSpPr/>
          <p:nvPr/>
        </p:nvSpPr>
        <p:spPr>
          <a:xfrm>
            <a:off x="365760" y="1170432"/>
            <a:ext cx="8412480" cy="27432"/>
          </a:xfrm>
          <a:prstGeom prst="rect">
            <a:avLst/>
          </a:prstGeom>
          <a:solidFill>
            <a:srgbClr val="FADBD8"/>
          </a:solidFill>
          <a:ln/>
        </p:spPr>
        <p:txBody>
          <a:bodyPr/>
          <a:lstStyle/>
          <a:p>
            <a:endParaRPr lang="es-CL"/>
          </a:p>
        </p:txBody>
      </p:sp>
      <p:sp>
        <p:nvSpPr>
          <p:cNvPr id="6" name="Text 4"/>
          <p:cNvSpPr/>
          <p:nvPr/>
        </p:nvSpPr>
        <p:spPr>
          <a:xfrm>
            <a:off x="365760" y="1280160"/>
            <a:ext cx="4114800" cy="274320"/>
          </a:xfrm>
          <a:prstGeom prst="rect">
            <a:avLst/>
          </a:prstGeom>
          <a:noFill/>
          <a:ln/>
        </p:spPr>
        <p:txBody>
          <a:bodyPr wrap="square" rtlCol="0" anchor="ctr"/>
          <a:lstStyle/>
          <a:p>
            <a:pPr marL="0" indent="0">
              <a:buNone/>
            </a:pPr>
            <a:r>
              <a:rPr lang="en-US" sz="1300" b="1" dirty="0">
                <a:solidFill>
                  <a:srgbClr val="6B1A1A"/>
                </a:solidFill>
              </a:rPr>
              <a:t>9 Proxies de Negocio Construidos</a:t>
            </a:r>
            <a:endParaRPr lang="en-US" sz="1300" dirty="0"/>
          </a:p>
        </p:txBody>
      </p:sp>
      <p:sp>
        <p:nvSpPr>
          <p:cNvPr id="7" name="Shape 5"/>
          <p:cNvSpPr/>
          <p:nvPr/>
        </p:nvSpPr>
        <p:spPr>
          <a:xfrm>
            <a:off x="365760" y="1627632"/>
            <a:ext cx="4114800" cy="292608"/>
          </a:xfrm>
          <a:prstGeom prst="rect">
            <a:avLst/>
          </a:prstGeom>
          <a:solidFill>
            <a:srgbClr val="C0392B">
              <a:alpha val="30000"/>
            </a:srgbClr>
          </a:solidFill>
          <a:ln/>
        </p:spPr>
        <p:txBody>
          <a:bodyPr/>
          <a:lstStyle/>
          <a:p>
            <a:endParaRPr lang="es-CL"/>
          </a:p>
        </p:txBody>
      </p:sp>
      <p:sp>
        <p:nvSpPr>
          <p:cNvPr id="8" name="Text 6"/>
          <p:cNvSpPr/>
          <p:nvPr/>
        </p:nvSpPr>
        <p:spPr>
          <a:xfrm>
            <a:off x="502920" y="1645920"/>
            <a:ext cx="1645920" cy="256032"/>
          </a:xfrm>
          <a:prstGeom prst="rect">
            <a:avLst/>
          </a:prstGeom>
          <a:noFill/>
          <a:ln/>
        </p:spPr>
        <p:txBody>
          <a:bodyPr wrap="square" lIns="0" tIns="0" rIns="0" bIns="0" rtlCol="0" anchor="ctr"/>
          <a:lstStyle/>
          <a:p>
            <a:pPr marL="0" indent="0">
              <a:buNone/>
            </a:pPr>
            <a:r>
              <a:rPr lang="en-US" sz="900" b="1" dirty="0" err="1">
                <a:solidFill>
                  <a:srgbClr val="6B1A1A"/>
                </a:solidFill>
              </a:rPr>
              <a:t>estimated_days_since_signup</a:t>
            </a:r>
            <a:endParaRPr lang="en-US" sz="900" dirty="0"/>
          </a:p>
        </p:txBody>
      </p:sp>
      <p:sp>
        <p:nvSpPr>
          <p:cNvPr id="9" name="Text 7"/>
          <p:cNvSpPr/>
          <p:nvPr/>
        </p:nvSpPr>
        <p:spPr>
          <a:xfrm>
            <a:off x="2194560" y="1645920"/>
            <a:ext cx="2194560" cy="256032"/>
          </a:xfrm>
          <a:prstGeom prst="rect">
            <a:avLst/>
          </a:prstGeom>
          <a:noFill/>
          <a:ln/>
        </p:spPr>
        <p:txBody>
          <a:bodyPr wrap="square" lIns="0" tIns="0" rIns="0" bIns="0" rtlCol="0" anchor="ctr"/>
          <a:lstStyle/>
          <a:p>
            <a:pPr marL="0" indent="0">
              <a:buNone/>
            </a:pPr>
            <a:r>
              <a:rPr lang="en-US" sz="900" dirty="0">
                <a:solidFill>
                  <a:srgbClr val="64748B"/>
                </a:solidFill>
              </a:rPr>
              <a:t>Antigüedad estimada (LTV / ticket × 30d)</a:t>
            </a:r>
            <a:endParaRPr lang="en-US" sz="900" dirty="0"/>
          </a:p>
        </p:txBody>
      </p:sp>
      <p:sp>
        <p:nvSpPr>
          <p:cNvPr id="10" name="Shape 8"/>
          <p:cNvSpPr/>
          <p:nvPr/>
        </p:nvSpPr>
        <p:spPr>
          <a:xfrm>
            <a:off x="365760" y="1956816"/>
            <a:ext cx="4114800" cy="292608"/>
          </a:xfrm>
          <a:prstGeom prst="rect">
            <a:avLst/>
          </a:prstGeom>
          <a:solidFill>
            <a:srgbClr val="C0392B">
              <a:alpha val="30000"/>
            </a:srgbClr>
          </a:solidFill>
          <a:ln/>
        </p:spPr>
        <p:txBody>
          <a:bodyPr/>
          <a:lstStyle/>
          <a:p>
            <a:endParaRPr lang="es-CL"/>
          </a:p>
        </p:txBody>
      </p:sp>
      <p:sp>
        <p:nvSpPr>
          <p:cNvPr id="11" name="Text 9"/>
          <p:cNvSpPr/>
          <p:nvPr/>
        </p:nvSpPr>
        <p:spPr>
          <a:xfrm>
            <a:off x="502920" y="1975104"/>
            <a:ext cx="1645920" cy="256032"/>
          </a:xfrm>
          <a:prstGeom prst="rect">
            <a:avLst/>
          </a:prstGeom>
          <a:noFill/>
          <a:ln/>
        </p:spPr>
        <p:txBody>
          <a:bodyPr wrap="square" lIns="0" tIns="0" rIns="0" bIns="0" rtlCol="0" anchor="ctr"/>
          <a:lstStyle/>
          <a:p>
            <a:pPr marL="0" indent="0">
              <a:buNone/>
            </a:pPr>
            <a:r>
              <a:rPr lang="en-US" sz="900" b="1" dirty="0">
                <a:solidFill>
                  <a:srgbClr val="6B1A1A"/>
                </a:solidFill>
              </a:rPr>
              <a:t>purchase_frequency_intensity</a:t>
            </a:r>
            <a:endParaRPr lang="en-US" sz="900" dirty="0"/>
          </a:p>
        </p:txBody>
      </p:sp>
      <p:sp>
        <p:nvSpPr>
          <p:cNvPr id="12" name="Text 10"/>
          <p:cNvSpPr/>
          <p:nvPr/>
        </p:nvSpPr>
        <p:spPr>
          <a:xfrm>
            <a:off x="2194560" y="1975104"/>
            <a:ext cx="2194560" cy="256032"/>
          </a:xfrm>
          <a:prstGeom prst="rect">
            <a:avLst/>
          </a:prstGeom>
          <a:noFill/>
          <a:ln/>
        </p:spPr>
        <p:txBody>
          <a:bodyPr wrap="square" lIns="0" tIns="0" rIns="0" bIns="0" rtlCol="0" anchor="ctr"/>
          <a:lstStyle/>
          <a:p>
            <a:pPr marL="0" indent="0">
              <a:buNone/>
            </a:pPr>
            <a:r>
              <a:rPr lang="en-US" sz="900" dirty="0">
                <a:solidFill>
                  <a:srgbClr val="64748B"/>
                </a:solidFill>
              </a:rPr>
              <a:t>Frecuencia de compra / antigüedad ★</a:t>
            </a:r>
            <a:endParaRPr lang="en-US" sz="900" dirty="0"/>
          </a:p>
        </p:txBody>
      </p:sp>
      <p:sp>
        <p:nvSpPr>
          <p:cNvPr id="13" name="Shape 11"/>
          <p:cNvSpPr/>
          <p:nvPr/>
        </p:nvSpPr>
        <p:spPr>
          <a:xfrm>
            <a:off x="365760" y="2286000"/>
            <a:ext cx="4114800" cy="292608"/>
          </a:xfrm>
          <a:prstGeom prst="rect">
            <a:avLst/>
          </a:prstGeom>
          <a:solidFill>
            <a:srgbClr val="F4F6FA"/>
          </a:solidFill>
          <a:ln/>
        </p:spPr>
        <p:txBody>
          <a:bodyPr/>
          <a:lstStyle/>
          <a:p>
            <a:endParaRPr lang="es-CL"/>
          </a:p>
        </p:txBody>
      </p:sp>
      <p:sp>
        <p:nvSpPr>
          <p:cNvPr id="14" name="Text 12"/>
          <p:cNvSpPr/>
          <p:nvPr/>
        </p:nvSpPr>
        <p:spPr>
          <a:xfrm>
            <a:off x="502920" y="2304288"/>
            <a:ext cx="1645920" cy="256032"/>
          </a:xfrm>
          <a:prstGeom prst="rect">
            <a:avLst/>
          </a:prstGeom>
          <a:noFill/>
          <a:ln/>
        </p:spPr>
        <p:txBody>
          <a:bodyPr wrap="square" lIns="0" tIns="0" rIns="0" bIns="0" rtlCol="0" anchor="ctr"/>
          <a:lstStyle/>
          <a:p>
            <a:pPr marL="0" indent="0">
              <a:buNone/>
            </a:pPr>
            <a:r>
              <a:rPr lang="en-US" sz="900" dirty="0" err="1">
                <a:solidFill>
                  <a:srgbClr val="1A1A2E"/>
                </a:solidFill>
              </a:rPr>
              <a:t>ticket_promedio_estimado</a:t>
            </a:r>
            <a:endParaRPr lang="en-US" sz="900" dirty="0"/>
          </a:p>
        </p:txBody>
      </p:sp>
      <p:sp>
        <p:nvSpPr>
          <p:cNvPr id="15" name="Text 13"/>
          <p:cNvSpPr/>
          <p:nvPr/>
        </p:nvSpPr>
        <p:spPr>
          <a:xfrm>
            <a:off x="2194560" y="2304288"/>
            <a:ext cx="2194560" cy="256032"/>
          </a:xfrm>
          <a:prstGeom prst="rect">
            <a:avLst/>
          </a:prstGeom>
          <a:noFill/>
          <a:ln/>
        </p:spPr>
        <p:txBody>
          <a:bodyPr wrap="square" lIns="0" tIns="0" rIns="0" bIns="0" rtlCol="0" anchor="ctr"/>
          <a:lstStyle/>
          <a:p>
            <a:pPr marL="0" indent="0">
              <a:buNone/>
            </a:pPr>
            <a:r>
              <a:rPr lang="en-US" sz="900" dirty="0">
                <a:solidFill>
                  <a:srgbClr val="64748B"/>
                </a:solidFill>
              </a:rPr>
              <a:t>LTV / frecuencia de compra ★</a:t>
            </a:r>
            <a:endParaRPr lang="en-US" sz="900" dirty="0"/>
          </a:p>
        </p:txBody>
      </p:sp>
      <p:sp>
        <p:nvSpPr>
          <p:cNvPr id="16" name="Shape 14"/>
          <p:cNvSpPr/>
          <p:nvPr/>
        </p:nvSpPr>
        <p:spPr>
          <a:xfrm>
            <a:off x="365760" y="2615184"/>
            <a:ext cx="4114800" cy="292608"/>
          </a:xfrm>
          <a:prstGeom prst="rect">
            <a:avLst/>
          </a:prstGeom>
          <a:solidFill>
            <a:srgbClr val="F4F6FA"/>
          </a:solidFill>
          <a:ln/>
        </p:spPr>
        <p:txBody>
          <a:bodyPr/>
          <a:lstStyle/>
          <a:p>
            <a:endParaRPr lang="es-CL"/>
          </a:p>
        </p:txBody>
      </p:sp>
      <p:sp>
        <p:nvSpPr>
          <p:cNvPr id="17" name="Text 15"/>
          <p:cNvSpPr/>
          <p:nvPr/>
        </p:nvSpPr>
        <p:spPr>
          <a:xfrm>
            <a:off x="502920" y="2633472"/>
            <a:ext cx="1645920" cy="256032"/>
          </a:xfrm>
          <a:prstGeom prst="rect">
            <a:avLst/>
          </a:prstGeom>
          <a:noFill/>
          <a:ln/>
        </p:spPr>
        <p:txBody>
          <a:bodyPr wrap="square" lIns="0" tIns="0" rIns="0" bIns="0" rtlCol="0" anchor="ctr"/>
          <a:lstStyle/>
          <a:p>
            <a:pPr marL="0" indent="0">
              <a:buNone/>
            </a:pPr>
            <a:r>
              <a:rPr lang="en-US" sz="900" dirty="0">
                <a:solidFill>
                  <a:srgbClr val="1A1A2E"/>
                </a:solidFill>
              </a:rPr>
              <a:t>marketing_efficiency</a:t>
            </a:r>
            <a:endParaRPr lang="en-US" sz="900" dirty="0"/>
          </a:p>
        </p:txBody>
      </p:sp>
      <p:sp>
        <p:nvSpPr>
          <p:cNvPr id="18" name="Text 16"/>
          <p:cNvSpPr/>
          <p:nvPr/>
        </p:nvSpPr>
        <p:spPr>
          <a:xfrm>
            <a:off x="2194560" y="2633472"/>
            <a:ext cx="2194560" cy="256032"/>
          </a:xfrm>
          <a:prstGeom prst="rect">
            <a:avLst/>
          </a:prstGeom>
          <a:noFill/>
          <a:ln/>
        </p:spPr>
        <p:txBody>
          <a:bodyPr wrap="square" lIns="0" tIns="0" rIns="0" bIns="0" rtlCol="0" anchor="ctr"/>
          <a:lstStyle/>
          <a:p>
            <a:pPr marL="0" indent="0">
              <a:buNone/>
            </a:pPr>
            <a:r>
              <a:rPr lang="en-US" sz="900" dirty="0">
                <a:solidFill>
                  <a:srgbClr val="64748B"/>
                </a:solidFill>
              </a:rPr>
              <a:t>LTV / gasto de marketing</a:t>
            </a:r>
            <a:endParaRPr lang="en-US" sz="900" dirty="0"/>
          </a:p>
        </p:txBody>
      </p:sp>
      <p:sp>
        <p:nvSpPr>
          <p:cNvPr id="19" name="Shape 17"/>
          <p:cNvSpPr/>
          <p:nvPr/>
        </p:nvSpPr>
        <p:spPr>
          <a:xfrm>
            <a:off x="365760" y="2944368"/>
            <a:ext cx="4114800" cy="292608"/>
          </a:xfrm>
          <a:prstGeom prst="rect">
            <a:avLst/>
          </a:prstGeom>
          <a:solidFill>
            <a:srgbClr val="F4F6FA"/>
          </a:solidFill>
          <a:ln/>
        </p:spPr>
        <p:txBody>
          <a:bodyPr/>
          <a:lstStyle/>
          <a:p>
            <a:endParaRPr lang="es-CL"/>
          </a:p>
        </p:txBody>
      </p:sp>
      <p:sp>
        <p:nvSpPr>
          <p:cNvPr id="20" name="Text 18"/>
          <p:cNvSpPr/>
          <p:nvPr/>
        </p:nvSpPr>
        <p:spPr>
          <a:xfrm>
            <a:off x="502920" y="2962656"/>
            <a:ext cx="1645920" cy="256032"/>
          </a:xfrm>
          <a:prstGeom prst="rect">
            <a:avLst/>
          </a:prstGeom>
          <a:noFill/>
          <a:ln/>
        </p:spPr>
        <p:txBody>
          <a:bodyPr wrap="square" lIns="0" tIns="0" rIns="0" bIns="0" rtlCol="0" anchor="ctr"/>
          <a:lstStyle/>
          <a:p>
            <a:pPr marL="0" indent="0">
              <a:buNone/>
            </a:pPr>
            <a:r>
              <a:rPr lang="en-US" sz="900" dirty="0">
                <a:solidFill>
                  <a:srgbClr val="1A1A2E"/>
                </a:solidFill>
              </a:rPr>
              <a:t>friction_free_customer</a:t>
            </a:r>
            <a:endParaRPr lang="en-US" sz="900" dirty="0"/>
          </a:p>
        </p:txBody>
      </p:sp>
      <p:sp>
        <p:nvSpPr>
          <p:cNvPr id="21" name="Text 19"/>
          <p:cNvSpPr/>
          <p:nvPr/>
        </p:nvSpPr>
        <p:spPr>
          <a:xfrm>
            <a:off x="2194560" y="2962656"/>
            <a:ext cx="2194560" cy="256032"/>
          </a:xfrm>
          <a:prstGeom prst="rect">
            <a:avLst/>
          </a:prstGeom>
          <a:noFill/>
          <a:ln/>
        </p:spPr>
        <p:txBody>
          <a:bodyPr wrap="square" lIns="0" tIns="0" rIns="0" bIns="0" rtlCol="0" anchor="ctr"/>
          <a:lstStyle/>
          <a:p>
            <a:pPr marL="0" indent="0">
              <a:buNone/>
            </a:pPr>
            <a:r>
              <a:rPr lang="en-US" sz="900" dirty="0">
                <a:solidFill>
                  <a:srgbClr val="64748B"/>
                </a:solidFill>
              </a:rPr>
              <a:t>Binaria: sin tickets ni demoras</a:t>
            </a:r>
            <a:endParaRPr lang="en-US" sz="900" dirty="0"/>
          </a:p>
        </p:txBody>
      </p:sp>
      <p:sp>
        <p:nvSpPr>
          <p:cNvPr id="22" name="Shape 20"/>
          <p:cNvSpPr/>
          <p:nvPr/>
        </p:nvSpPr>
        <p:spPr>
          <a:xfrm>
            <a:off x="365760" y="3273552"/>
            <a:ext cx="4114800" cy="292608"/>
          </a:xfrm>
          <a:prstGeom prst="rect">
            <a:avLst/>
          </a:prstGeom>
          <a:solidFill>
            <a:srgbClr val="F4F6FA"/>
          </a:solidFill>
          <a:ln/>
        </p:spPr>
        <p:txBody>
          <a:bodyPr/>
          <a:lstStyle/>
          <a:p>
            <a:endParaRPr lang="es-CL"/>
          </a:p>
        </p:txBody>
      </p:sp>
      <p:sp>
        <p:nvSpPr>
          <p:cNvPr id="23" name="Text 21"/>
          <p:cNvSpPr/>
          <p:nvPr/>
        </p:nvSpPr>
        <p:spPr>
          <a:xfrm>
            <a:off x="502920" y="3291840"/>
            <a:ext cx="1645920" cy="256032"/>
          </a:xfrm>
          <a:prstGeom prst="rect">
            <a:avLst/>
          </a:prstGeom>
          <a:noFill/>
          <a:ln/>
        </p:spPr>
        <p:txBody>
          <a:bodyPr wrap="square" lIns="0" tIns="0" rIns="0" bIns="0" rtlCol="0" anchor="ctr"/>
          <a:lstStyle/>
          <a:p>
            <a:pPr marL="0" indent="0">
              <a:buNone/>
            </a:pPr>
            <a:r>
              <a:rPr lang="en-US" sz="900" dirty="0">
                <a:solidFill>
                  <a:srgbClr val="1A1A2E"/>
                </a:solidFill>
              </a:rPr>
              <a:t>engagement_score</a:t>
            </a:r>
            <a:endParaRPr lang="en-US" sz="900" dirty="0"/>
          </a:p>
        </p:txBody>
      </p:sp>
      <p:sp>
        <p:nvSpPr>
          <p:cNvPr id="24" name="Text 22"/>
          <p:cNvSpPr/>
          <p:nvPr/>
        </p:nvSpPr>
        <p:spPr>
          <a:xfrm>
            <a:off x="2194560" y="3291840"/>
            <a:ext cx="2194560" cy="256032"/>
          </a:xfrm>
          <a:prstGeom prst="rect">
            <a:avLst/>
          </a:prstGeom>
          <a:noFill/>
          <a:ln/>
        </p:spPr>
        <p:txBody>
          <a:bodyPr wrap="square" lIns="0" tIns="0" rIns="0" bIns="0" rtlCol="0" anchor="ctr"/>
          <a:lstStyle/>
          <a:p>
            <a:pPr marL="0" indent="0">
              <a:buNone/>
            </a:pPr>
            <a:r>
              <a:rPr lang="en-US" sz="900" dirty="0">
                <a:solidFill>
                  <a:srgbClr val="64748B"/>
                </a:solidFill>
              </a:rPr>
              <a:t>Visitas × páginas × tiempo de sesión</a:t>
            </a:r>
            <a:endParaRPr lang="en-US" sz="900" dirty="0"/>
          </a:p>
        </p:txBody>
      </p:sp>
      <p:sp>
        <p:nvSpPr>
          <p:cNvPr id="25" name="Shape 23"/>
          <p:cNvSpPr/>
          <p:nvPr/>
        </p:nvSpPr>
        <p:spPr>
          <a:xfrm>
            <a:off x="365760" y="3602736"/>
            <a:ext cx="4114800" cy="292608"/>
          </a:xfrm>
          <a:prstGeom prst="rect">
            <a:avLst/>
          </a:prstGeom>
          <a:solidFill>
            <a:srgbClr val="F4F6FA"/>
          </a:solidFill>
          <a:ln/>
        </p:spPr>
        <p:txBody>
          <a:bodyPr/>
          <a:lstStyle/>
          <a:p>
            <a:endParaRPr lang="es-CL"/>
          </a:p>
        </p:txBody>
      </p:sp>
      <p:sp>
        <p:nvSpPr>
          <p:cNvPr id="26" name="Text 24"/>
          <p:cNvSpPr/>
          <p:nvPr/>
        </p:nvSpPr>
        <p:spPr>
          <a:xfrm>
            <a:off x="502920" y="3621024"/>
            <a:ext cx="1645920" cy="256032"/>
          </a:xfrm>
          <a:prstGeom prst="rect">
            <a:avLst/>
          </a:prstGeom>
          <a:noFill/>
          <a:ln/>
        </p:spPr>
        <p:txBody>
          <a:bodyPr wrap="square" lIns="0" tIns="0" rIns="0" bIns="0" rtlCol="0" anchor="ctr"/>
          <a:lstStyle/>
          <a:p>
            <a:pPr marL="0" indent="0">
              <a:buNone/>
            </a:pPr>
            <a:r>
              <a:rPr lang="en-US" sz="900" dirty="0">
                <a:solidFill>
                  <a:srgbClr val="1A1A2E"/>
                </a:solidFill>
              </a:rPr>
              <a:t>email_engagement</a:t>
            </a:r>
            <a:endParaRPr lang="en-US" sz="900" dirty="0"/>
          </a:p>
        </p:txBody>
      </p:sp>
      <p:sp>
        <p:nvSpPr>
          <p:cNvPr id="27" name="Text 25"/>
          <p:cNvSpPr/>
          <p:nvPr/>
        </p:nvSpPr>
        <p:spPr>
          <a:xfrm>
            <a:off x="2194560" y="3621024"/>
            <a:ext cx="2194560" cy="256032"/>
          </a:xfrm>
          <a:prstGeom prst="rect">
            <a:avLst/>
          </a:prstGeom>
          <a:noFill/>
          <a:ln/>
        </p:spPr>
        <p:txBody>
          <a:bodyPr wrap="square" lIns="0" tIns="0" rIns="0" bIns="0" rtlCol="0" anchor="ctr"/>
          <a:lstStyle/>
          <a:p>
            <a:pPr marL="0" indent="0">
              <a:buNone/>
            </a:pPr>
            <a:r>
              <a:rPr lang="en-US" sz="900" dirty="0">
                <a:solidFill>
                  <a:srgbClr val="64748B"/>
                </a:solidFill>
              </a:rPr>
              <a:t>Open rate × click rate</a:t>
            </a:r>
            <a:endParaRPr lang="en-US" sz="900" dirty="0"/>
          </a:p>
        </p:txBody>
      </p:sp>
      <p:sp>
        <p:nvSpPr>
          <p:cNvPr id="28" name="Shape 26"/>
          <p:cNvSpPr/>
          <p:nvPr/>
        </p:nvSpPr>
        <p:spPr>
          <a:xfrm>
            <a:off x="365760" y="3931920"/>
            <a:ext cx="4114800" cy="292608"/>
          </a:xfrm>
          <a:prstGeom prst="rect">
            <a:avLst/>
          </a:prstGeom>
          <a:solidFill>
            <a:srgbClr val="F4F6FA"/>
          </a:solidFill>
          <a:ln/>
        </p:spPr>
        <p:txBody>
          <a:bodyPr/>
          <a:lstStyle/>
          <a:p>
            <a:endParaRPr lang="es-CL"/>
          </a:p>
        </p:txBody>
      </p:sp>
      <p:sp>
        <p:nvSpPr>
          <p:cNvPr id="29" name="Text 27"/>
          <p:cNvSpPr/>
          <p:nvPr/>
        </p:nvSpPr>
        <p:spPr>
          <a:xfrm>
            <a:off x="502920" y="3950208"/>
            <a:ext cx="1645920" cy="256032"/>
          </a:xfrm>
          <a:prstGeom prst="rect">
            <a:avLst/>
          </a:prstGeom>
          <a:noFill/>
          <a:ln/>
        </p:spPr>
        <p:txBody>
          <a:bodyPr wrap="square" lIns="0" tIns="0" rIns="0" bIns="0" rtlCol="0" anchor="ctr"/>
          <a:lstStyle/>
          <a:p>
            <a:pPr marL="0" indent="0">
              <a:buNone/>
            </a:pPr>
            <a:r>
              <a:rPr lang="en-US" sz="900" dirty="0">
                <a:solidFill>
                  <a:srgbClr val="1A1A2E"/>
                </a:solidFill>
              </a:rPr>
              <a:t>spend_per_visit</a:t>
            </a:r>
            <a:endParaRPr lang="en-US" sz="900" dirty="0"/>
          </a:p>
        </p:txBody>
      </p:sp>
      <p:sp>
        <p:nvSpPr>
          <p:cNvPr id="30" name="Text 28"/>
          <p:cNvSpPr/>
          <p:nvPr/>
        </p:nvSpPr>
        <p:spPr>
          <a:xfrm>
            <a:off x="2194560" y="3950208"/>
            <a:ext cx="2194560" cy="256032"/>
          </a:xfrm>
          <a:prstGeom prst="rect">
            <a:avLst/>
          </a:prstGeom>
          <a:noFill/>
          <a:ln/>
        </p:spPr>
        <p:txBody>
          <a:bodyPr wrap="square" lIns="0" tIns="0" rIns="0" bIns="0" rtlCol="0" anchor="ctr"/>
          <a:lstStyle/>
          <a:p>
            <a:pPr marL="0" indent="0">
              <a:buNone/>
            </a:pPr>
            <a:r>
              <a:rPr lang="en-US" sz="900" dirty="0">
                <a:solidFill>
                  <a:srgbClr val="64748B"/>
                </a:solidFill>
              </a:rPr>
              <a:t>Gasto total / visitas</a:t>
            </a:r>
            <a:endParaRPr lang="en-US" sz="900" dirty="0"/>
          </a:p>
        </p:txBody>
      </p:sp>
      <p:sp>
        <p:nvSpPr>
          <p:cNvPr id="31" name="Shape 29"/>
          <p:cNvSpPr/>
          <p:nvPr/>
        </p:nvSpPr>
        <p:spPr>
          <a:xfrm>
            <a:off x="365760" y="4261104"/>
            <a:ext cx="4114800" cy="292608"/>
          </a:xfrm>
          <a:prstGeom prst="rect">
            <a:avLst/>
          </a:prstGeom>
          <a:solidFill>
            <a:srgbClr val="F4F6FA"/>
          </a:solidFill>
          <a:ln/>
        </p:spPr>
        <p:txBody>
          <a:bodyPr/>
          <a:lstStyle/>
          <a:p>
            <a:endParaRPr lang="es-CL"/>
          </a:p>
        </p:txBody>
      </p:sp>
      <p:sp>
        <p:nvSpPr>
          <p:cNvPr id="32" name="Text 30"/>
          <p:cNvSpPr/>
          <p:nvPr/>
        </p:nvSpPr>
        <p:spPr>
          <a:xfrm>
            <a:off x="502920" y="4279392"/>
            <a:ext cx="1645920" cy="256032"/>
          </a:xfrm>
          <a:prstGeom prst="rect">
            <a:avLst/>
          </a:prstGeom>
          <a:noFill/>
          <a:ln/>
        </p:spPr>
        <p:txBody>
          <a:bodyPr wrap="square" lIns="0" tIns="0" rIns="0" bIns="0" rtlCol="0" anchor="ctr"/>
          <a:lstStyle/>
          <a:p>
            <a:pPr marL="0" indent="0">
              <a:buNone/>
            </a:pPr>
            <a:r>
              <a:rPr lang="en-US" sz="900" dirty="0">
                <a:solidFill>
                  <a:srgbClr val="1A1A2E"/>
                </a:solidFill>
              </a:rPr>
              <a:t>value_per_ticket</a:t>
            </a:r>
            <a:endParaRPr lang="en-US" sz="900" dirty="0"/>
          </a:p>
        </p:txBody>
      </p:sp>
      <p:sp>
        <p:nvSpPr>
          <p:cNvPr id="33" name="Text 31"/>
          <p:cNvSpPr/>
          <p:nvPr/>
        </p:nvSpPr>
        <p:spPr>
          <a:xfrm>
            <a:off x="2194560" y="4279392"/>
            <a:ext cx="2194560" cy="256032"/>
          </a:xfrm>
          <a:prstGeom prst="rect">
            <a:avLst/>
          </a:prstGeom>
          <a:noFill/>
          <a:ln/>
        </p:spPr>
        <p:txBody>
          <a:bodyPr wrap="square" lIns="0" tIns="0" rIns="0" bIns="0" rtlCol="0" anchor="ctr"/>
          <a:lstStyle/>
          <a:p>
            <a:pPr marL="0" indent="0">
              <a:buNone/>
            </a:pPr>
            <a:r>
              <a:rPr lang="en-US" sz="900" dirty="0">
                <a:solidFill>
                  <a:srgbClr val="64748B"/>
                </a:solidFill>
              </a:rPr>
              <a:t>LTV / tickets de soporte</a:t>
            </a:r>
            <a:endParaRPr lang="en-US" sz="900" dirty="0"/>
          </a:p>
        </p:txBody>
      </p:sp>
      <p:sp>
        <p:nvSpPr>
          <p:cNvPr id="34" name="Text 32"/>
          <p:cNvSpPr/>
          <p:nvPr/>
        </p:nvSpPr>
        <p:spPr>
          <a:xfrm>
            <a:off x="4663440" y="1280160"/>
            <a:ext cx="4114800" cy="274320"/>
          </a:xfrm>
          <a:prstGeom prst="rect">
            <a:avLst/>
          </a:prstGeom>
          <a:noFill/>
          <a:ln/>
        </p:spPr>
        <p:txBody>
          <a:bodyPr wrap="square" rtlCol="0" anchor="ctr"/>
          <a:lstStyle/>
          <a:p>
            <a:pPr marL="0" indent="0">
              <a:buNone/>
            </a:pPr>
            <a:r>
              <a:rPr lang="en-US" sz="1300" b="1" dirty="0">
                <a:solidFill>
                  <a:srgbClr val="6B1A1A"/>
                </a:solidFill>
              </a:rPr>
              <a:t>Screening de 5 Conjuntos de Features</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414611921"/>
              </p:ext>
            </p:extLst>
          </p:nvPr>
        </p:nvGraphicFramePr>
        <p:xfrm>
          <a:off x="4663440" y="1627632"/>
          <a:ext cx="4114800" cy="1828800"/>
        </p:xfrm>
        <a:graphic>
          <a:graphicData uri="http://schemas.openxmlformats.org/drawingml/2006/table">
            <a:tbl>
              <a:tblPr/>
              <a:tblGrid>
                <a:gridCol w="201168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304800">
                <a:tc>
                  <a:txBody>
                    <a:bodyPr/>
                    <a:lstStyle/>
                    <a:p>
                      <a:pPr marL="0" indent="0">
                        <a:buNone/>
                      </a:pPr>
                      <a:r>
                        <a:rPr lang="en-US" sz="1000" b="1" dirty="0">
                          <a:solidFill>
                            <a:srgbClr val="FFFFFF"/>
                          </a:solidFill>
                        </a:rPr>
                        <a:t>Feature Set</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6B1A1A"/>
                    </a:solidFill>
                  </a:tcPr>
                </a:tc>
                <a:tc>
                  <a:txBody>
                    <a:bodyPr/>
                    <a:lstStyle/>
                    <a:p>
                      <a:pPr marL="0" indent="0">
                        <a:buNone/>
                      </a:pPr>
                      <a:r>
                        <a:rPr lang="en-US" sz="1000" b="1" dirty="0">
                          <a:solidFill>
                            <a:srgbClr val="FFFFFF"/>
                          </a:solidFill>
                        </a:rPr>
                        <a:t>Vars.</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6B1A1A"/>
                    </a:solidFill>
                  </a:tcPr>
                </a:tc>
                <a:tc>
                  <a:txBody>
                    <a:bodyPr/>
                    <a:lstStyle/>
                    <a:p>
                      <a:pPr marL="0" indent="0">
                        <a:buNone/>
                      </a:pPr>
                      <a:r>
                        <a:rPr lang="en-US" sz="1000" b="1" dirty="0">
                          <a:solidFill>
                            <a:srgbClr val="FFFFFF"/>
                          </a:solidFill>
                        </a:rPr>
                        <a:t>ROC-AUC</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6B1A1A"/>
                    </a:solidFill>
                  </a:tcPr>
                </a:tc>
                <a:tc>
                  <a:txBody>
                    <a:bodyPr/>
                    <a:lstStyle/>
                    <a:p>
                      <a:pPr marL="0" indent="0">
                        <a:buNone/>
                      </a:pPr>
                      <a:r>
                        <a:rPr lang="en-US" sz="1000" b="1" dirty="0">
                          <a:solidFill>
                            <a:srgbClr val="FFFFFF"/>
                          </a:solidFill>
                        </a:rPr>
                        <a:t>Avg.Prec.</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6B1A1A"/>
                    </a:solidFill>
                  </a:tcPr>
                </a:tc>
                <a:extLst>
                  <a:ext uri="{0D108BD9-81ED-4DB2-BD59-A6C34878D82A}">
                    <a16:rowId xmlns:a16="http://schemas.microsoft.com/office/drawing/2014/main" val="10000"/>
                  </a:ext>
                </a:extLst>
              </a:tr>
              <a:tr h="304800">
                <a:tc>
                  <a:txBody>
                    <a:bodyPr/>
                    <a:lstStyle/>
                    <a:p>
                      <a:pPr marL="0" indent="0">
                        <a:buNone/>
                      </a:pPr>
                      <a:r>
                        <a:rPr lang="en-US" sz="1000" b="1" dirty="0">
                          <a:solidFill>
                            <a:srgbClr val="000000"/>
                          </a:solidFill>
                        </a:rPr>
                        <a:t>v5_best_screening ★</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ADBD8"/>
                    </a:solidFill>
                  </a:tcPr>
                </a:tc>
                <a:tc>
                  <a:txBody>
                    <a:bodyPr/>
                    <a:lstStyle/>
                    <a:p>
                      <a:pPr marL="0" indent="0">
                        <a:buNone/>
                      </a:pPr>
                      <a:r>
                        <a:rPr lang="en-US" sz="1000" b="1" dirty="0">
                          <a:solidFill>
                            <a:srgbClr val="000000"/>
                          </a:solidFill>
                        </a:rPr>
                        <a:t>8</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ADBD8"/>
                    </a:solidFill>
                  </a:tcPr>
                </a:tc>
                <a:tc>
                  <a:txBody>
                    <a:bodyPr/>
                    <a:lstStyle/>
                    <a:p>
                      <a:pPr marL="0" indent="0">
                        <a:buNone/>
                      </a:pPr>
                      <a:r>
                        <a:rPr lang="en-US" sz="1000" b="1" dirty="0">
                          <a:solidFill>
                            <a:srgbClr val="000000"/>
                          </a:solidFill>
                        </a:rPr>
                        <a:t>0.6326</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ADBD8"/>
                    </a:solidFill>
                  </a:tcPr>
                </a:tc>
                <a:tc>
                  <a:txBody>
                    <a:bodyPr/>
                    <a:lstStyle/>
                    <a:p>
                      <a:pPr marL="0" indent="0">
                        <a:buNone/>
                      </a:pPr>
                      <a:r>
                        <a:rPr lang="en-US" sz="1000" b="1" dirty="0">
                          <a:solidFill>
                            <a:srgbClr val="000000"/>
                          </a:solidFill>
                        </a:rPr>
                        <a:t>0.6629</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ADBD8"/>
                    </a:solidFill>
                  </a:tcPr>
                </a:tc>
                <a:extLst>
                  <a:ext uri="{0D108BD9-81ED-4DB2-BD59-A6C34878D82A}">
                    <a16:rowId xmlns:a16="http://schemas.microsoft.com/office/drawing/2014/main" val="10001"/>
                  </a:ext>
                </a:extLst>
              </a:tr>
              <a:tr h="304800">
                <a:tc>
                  <a:txBody>
                    <a:bodyPr/>
                    <a:lstStyle/>
                    <a:p>
                      <a:pPr marL="0" indent="0">
                        <a:buNone/>
                      </a:pPr>
                      <a:r>
                        <a:rPr lang="en-US" sz="1000" dirty="0">
                          <a:solidFill>
                            <a:srgbClr val="000000"/>
                          </a:solidFill>
                        </a:rPr>
                        <a:t>v5_core_business</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00000"/>
                          </a:solidFill>
                        </a:rPr>
                        <a:t>10</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00000"/>
                          </a:solidFill>
                        </a:rPr>
                        <a:t>0.6188</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00000"/>
                          </a:solidFill>
                        </a:rPr>
                        <a:t>0.6364</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304800">
                <a:tc>
                  <a:txBody>
                    <a:bodyPr/>
                    <a:lstStyle/>
                    <a:p>
                      <a:pPr marL="0" indent="0">
                        <a:buNone/>
                      </a:pPr>
                      <a:r>
                        <a:rPr lang="en-US" sz="1000" dirty="0">
                          <a:solidFill>
                            <a:srgbClr val="000000"/>
                          </a:solidFill>
                        </a:rPr>
                        <a:t>v4_baseline (6 base)</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00000"/>
                          </a:solidFill>
                        </a:rPr>
                        <a:t>6</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00000"/>
                          </a:solidFill>
                        </a:rPr>
                        <a:t>0.6172</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00000"/>
                          </a:solidFill>
                        </a:rPr>
                        <a:t>0.6372</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304800">
                <a:tc>
                  <a:txBody>
                    <a:bodyPr/>
                    <a:lstStyle/>
                    <a:p>
                      <a:pPr marL="0" indent="0">
                        <a:buNone/>
                      </a:pPr>
                      <a:r>
                        <a:rPr lang="en-US" sz="1000" dirty="0">
                          <a:solidFill>
                            <a:srgbClr val="000000"/>
                          </a:solidFill>
                        </a:rPr>
                        <a:t>v5_full_engineering</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00000"/>
                          </a:solidFill>
                        </a:rPr>
                        <a:t>15</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00000"/>
                          </a:solidFill>
                        </a:rPr>
                        <a:t>0.6161</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00000"/>
                          </a:solidFill>
                        </a:rPr>
                        <a:t>0.6387</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304800">
                <a:tc>
                  <a:txBody>
                    <a:bodyPr/>
                    <a:lstStyle/>
                    <a:p>
                      <a:pPr marL="0" indent="0">
                        <a:buNone/>
                      </a:pPr>
                      <a:r>
                        <a:rPr lang="en-US" sz="1000" dirty="0">
                          <a:solidFill>
                            <a:srgbClr val="000000"/>
                          </a:solidFill>
                        </a:rPr>
                        <a:t>v5_all_original+eng.</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00000"/>
                          </a:solidFill>
                        </a:rPr>
                        <a:t>28</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00000"/>
                          </a:solidFill>
                        </a:rPr>
                        <a:t>0.6151</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00000"/>
                          </a:solidFill>
                        </a:rPr>
                        <a:t>0.6432</a:t>
                      </a:r>
                      <a:endParaRPr lang="en-US" sz="10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6" name="Shape 33"/>
          <p:cNvSpPr/>
          <p:nvPr/>
        </p:nvSpPr>
        <p:spPr>
          <a:xfrm>
            <a:off x="4663440" y="3547872"/>
            <a:ext cx="4114800" cy="1371600"/>
          </a:xfrm>
          <a:prstGeom prst="rect">
            <a:avLst/>
          </a:prstGeom>
          <a:solidFill>
            <a:srgbClr val="F4F6FA"/>
          </a:solidFill>
          <a:ln/>
        </p:spPr>
        <p:txBody>
          <a:bodyPr/>
          <a:lstStyle/>
          <a:p>
            <a:endParaRPr lang="es-CL" dirty="0"/>
          </a:p>
        </p:txBody>
      </p:sp>
      <p:sp>
        <p:nvSpPr>
          <p:cNvPr id="37" name="Shape 34"/>
          <p:cNvSpPr/>
          <p:nvPr/>
        </p:nvSpPr>
        <p:spPr>
          <a:xfrm>
            <a:off x="4663440" y="3547872"/>
            <a:ext cx="54864" cy="1371600"/>
          </a:xfrm>
          <a:prstGeom prst="rect">
            <a:avLst/>
          </a:prstGeom>
          <a:solidFill>
            <a:srgbClr val="C0392B"/>
          </a:solidFill>
          <a:ln/>
        </p:spPr>
        <p:txBody>
          <a:bodyPr/>
          <a:lstStyle/>
          <a:p>
            <a:endParaRPr lang="es-CL"/>
          </a:p>
        </p:txBody>
      </p:sp>
      <p:sp>
        <p:nvSpPr>
          <p:cNvPr id="38" name="Text 35"/>
          <p:cNvSpPr/>
          <p:nvPr/>
        </p:nvSpPr>
        <p:spPr>
          <a:xfrm>
            <a:off x="4800600" y="3593592"/>
            <a:ext cx="3840480" cy="256032"/>
          </a:xfrm>
          <a:prstGeom prst="rect">
            <a:avLst/>
          </a:prstGeom>
          <a:noFill/>
          <a:ln/>
        </p:spPr>
        <p:txBody>
          <a:bodyPr wrap="square" lIns="0" tIns="0" rIns="0" bIns="0" rtlCol="0" anchor="ctr"/>
          <a:lstStyle/>
          <a:p>
            <a:pPr marL="0" indent="0">
              <a:buNone/>
            </a:pPr>
            <a:r>
              <a:rPr lang="en-US" sz="1100" b="1" dirty="0">
                <a:solidFill>
                  <a:srgbClr val="6B1A1A"/>
                </a:solidFill>
              </a:rPr>
              <a:t>Hallazgo clave</a:t>
            </a:r>
            <a:endParaRPr lang="en-US" sz="1100" dirty="0"/>
          </a:p>
        </p:txBody>
      </p:sp>
      <p:sp>
        <p:nvSpPr>
          <p:cNvPr id="39" name="Text 36"/>
          <p:cNvSpPr/>
          <p:nvPr/>
        </p:nvSpPr>
        <p:spPr>
          <a:xfrm>
            <a:off x="4828032" y="3747734"/>
            <a:ext cx="3840480" cy="1005840"/>
          </a:xfrm>
          <a:prstGeom prst="rect">
            <a:avLst/>
          </a:prstGeom>
          <a:noFill/>
          <a:ln/>
        </p:spPr>
        <p:txBody>
          <a:bodyPr wrap="square" lIns="0" tIns="0" rIns="0" bIns="0" rtlCol="0" anchor="ctr"/>
          <a:lstStyle/>
          <a:p>
            <a:pPr marL="0" indent="0">
              <a:buNone/>
            </a:pPr>
            <a:r>
              <a:rPr lang="en-US" sz="1050" dirty="0">
                <a:solidFill>
                  <a:srgbClr val="1A1A2E"/>
                </a:solidFill>
              </a:rPr>
              <a:t>8 variables superan a 28. La parsimonia con significado de negocio gana sobre la dimensionalidad bruta. Las 2 features ganadoras (★) son las que normalizan comportamiento por la antigüedad del cliente.</a:t>
            </a:r>
            <a:endParaRPr lang="en-US" sz="1050" dirty="0"/>
          </a:p>
        </p:txBody>
      </p:sp>
      <p:sp>
        <p:nvSpPr>
          <p:cNvPr id="40" name="Shape 37"/>
          <p:cNvSpPr/>
          <p:nvPr/>
        </p:nvSpPr>
        <p:spPr>
          <a:xfrm>
            <a:off x="365760" y="4572000"/>
            <a:ext cx="8412480" cy="384048"/>
          </a:xfrm>
          <a:prstGeom prst="rect">
            <a:avLst/>
          </a:prstGeom>
          <a:solidFill>
            <a:srgbClr val="6B1A1A"/>
          </a:solidFill>
          <a:ln/>
        </p:spPr>
        <p:txBody>
          <a:bodyPr/>
          <a:lstStyle/>
          <a:p>
            <a:endParaRPr lang="es-CL"/>
          </a:p>
        </p:txBody>
      </p:sp>
      <p:sp>
        <p:nvSpPr>
          <p:cNvPr id="41" name="Text 38"/>
          <p:cNvSpPr/>
          <p:nvPr/>
        </p:nvSpPr>
        <p:spPr>
          <a:xfrm>
            <a:off x="502920" y="4608576"/>
            <a:ext cx="8138160" cy="310896"/>
          </a:xfrm>
          <a:prstGeom prst="rect">
            <a:avLst/>
          </a:prstGeom>
          <a:noFill/>
          <a:ln/>
        </p:spPr>
        <p:txBody>
          <a:bodyPr wrap="square" rtlCol="0" anchor="ctr"/>
          <a:lstStyle/>
          <a:p>
            <a:pPr marL="0" indent="0">
              <a:buNone/>
            </a:pPr>
            <a:r>
              <a:rPr lang="en-US" sz="1050" b="1" dirty="0">
                <a:solidFill>
                  <a:srgbClr val="FFFFFF"/>
                </a:solidFill>
              </a:rPr>
              <a:t>v5 final (tuning profundo sobre v5_best_screening):  ROC-AUC = 0.6326  ·  Average Precision = 0.6629  ·  Objetivo ROC-AUC ≥ 0.75 no alcanzado → se necesitan variables temporales reales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C0392B"/>
          </a:solidFill>
          <a:ln/>
        </p:spPr>
        <p:txBody>
          <a:bodyPr/>
          <a:lstStyle/>
          <a:p>
            <a:endParaRPr lang="es-CL"/>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200" b="1" dirty="0">
                <a:solidFill>
                  <a:srgbClr val="FFFFFF"/>
                </a:solidFill>
              </a:rPr>
              <a:t>PARTE 3 · Encar Portillo  ·  Umbral + Conclusiones y Recomendaciones</a:t>
            </a:r>
            <a:endParaRPr lang="en-US" sz="1200" dirty="0"/>
          </a:p>
        </p:txBody>
      </p:sp>
      <p:sp>
        <p:nvSpPr>
          <p:cNvPr id="4" name="Text 2"/>
          <p:cNvSpPr/>
          <p:nvPr/>
        </p:nvSpPr>
        <p:spPr>
          <a:xfrm>
            <a:off x="365760" y="2067197"/>
            <a:ext cx="8412480" cy="502920"/>
          </a:xfrm>
          <a:prstGeom prst="rect">
            <a:avLst/>
          </a:prstGeom>
          <a:noFill/>
          <a:ln/>
        </p:spPr>
        <p:txBody>
          <a:bodyPr wrap="square" lIns="0" tIns="0" rIns="0" bIns="0" rtlCol="0" anchor="ctr"/>
          <a:lstStyle/>
          <a:p>
            <a:pPr marL="0" indent="0" algn="ctr">
              <a:buNone/>
            </a:pPr>
            <a:r>
              <a:rPr lang="en-US" sz="6600" b="1" dirty="0" err="1">
                <a:solidFill>
                  <a:srgbClr val="FFFFFF"/>
                </a:solidFill>
              </a:rPr>
              <a:t>Muchas</a:t>
            </a:r>
            <a:r>
              <a:rPr lang="en-US" sz="6600" b="1" dirty="0">
                <a:solidFill>
                  <a:srgbClr val="FFFFFF"/>
                </a:solidFill>
              </a:rPr>
              <a:t> Gracias</a:t>
            </a:r>
            <a:endParaRPr lang="en-US" sz="6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1217</Words>
  <Application>Microsoft Office PowerPoint</Application>
  <PresentationFormat>Presentación en pantalla (16:9)</PresentationFormat>
  <Paragraphs>248</Paragraphs>
  <Slides>11</Slides>
  <Notes>11</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11</vt:i4>
      </vt:variant>
    </vt:vector>
  </HeadingPairs>
  <TitlesOfParts>
    <vt:vector size="13"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para Upselling</dc:title>
  <dc:subject>PptxGenJS Presentation</dc:subject>
  <dc:creator>Duoc UC — SCY1101</dc:creator>
  <cp:lastModifiedBy>Encar de Jesus Portillo Briceño</cp:lastModifiedBy>
  <cp:revision>4</cp:revision>
  <dcterms:created xsi:type="dcterms:W3CDTF">2026-05-26T22:00:12Z</dcterms:created>
  <dcterms:modified xsi:type="dcterms:W3CDTF">2026-05-27T00:03:42Z</dcterms:modified>
</cp:coreProperties>
</file>